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Quattrocento"/>
      <p:regular r:id="rId17"/>
    </p:embeddedFont>
    <p:embeddedFont>
      <p:font typeface="Quattrocento"/>
      <p:regular r:id="rId18"/>
    </p:embeddedFont>
    <p:embeddedFont>
      <p:font typeface="Quattrocento"/>
      <p:regular r:id="rId19"/>
    </p:embeddedFont>
    <p:embeddedFont>
      <p:font typeface="Quattrocento"/>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slideLayout" Target="../slideLayouts/slideLayout4.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8.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4.png"/><Relationship Id="rId5" Type="http://schemas.openxmlformats.org/officeDocument/2006/relationships/image" Target="../media/image-9-5.svg"/><Relationship Id="rId6" Type="http://schemas.openxmlformats.org/officeDocument/2006/relationships/image" Target="../media/image-9-6.png"/><Relationship Id="rId7" Type="http://schemas.openxmlformats.org/officeDocument/2006/relationships/image" Target="../media/image-9-7.svg"/><Relationship Id="rId8" Type="http://schemas.openxmlformats.org/officeDocument/2006/relationships/image" Target="../media/image-9-8.png"/><Relationship Id="rId9" Type="http://schemas.openxmlformats.org/officeDocument/2006/relationships/image" Target="../media/image-9-9.svg"/><Relationship Id="rId10" Type="http://schemas.openxmlformats.org/officeDocument/2006/relationships/slideLayout" Target="../slideLayouts/slideLayout10.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image" Target="../media/image-10-9.png"/><Relationship Id="rId10" Type="http://schemas.openxmlformats.org/officeDocument/2006/relationships/image" Target="../media/image-10-10.svg"/><Relationship Id="rId11" Type="http://schemas.openxmlformats.org/officeDocument/2006/relationships/slideLayout" Target="../slideLayouts/slideLayout11.xml"/><Relationship Id="rId1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37724" y="2671763"/>
            <a:ext cx="7468553" cy="1231821"/>
          </a:xfrm>
          <a:prstGeom prst="rect">
            <a:avLst/>
          </a:prstGeom>
          <a:noFill/>
          <a:ln/>
        </p:spPr>
        <p:txBody>
          <a:bodyPr wrap="square" lIns="0" tIns="0" rIns="0" bIns="0" rtlCol="0" anchor="t"/>
          <a:lstStyle/>
          <a:p>
            <a:pPr algn="l" indent="0" marL="0">
              <a:lnSpc>
                <a:spcPts val="4850"/>
              </a:lnSpc>
              <a:buNone/>
            </a:pPr>
            <a:r>
              <a:rPr lang="en-US" sz="3850" dirty="0">
                <a:solidFill>
                  <a:srgbClr val="FFD9BE"/>
                </a:solidFill>
                <a:latin typeface="Quattrocento" pitchFamily="34" charset="0"/>
                <a:ea typeface="Quattrocento" pitchFamily="34" charset="-122"/>
                <a:cs typeface="Quattrocento" pitchFamily="34" charset="-120"/>
              </a:rPr>
              <a:t>Customer Shopping Behavior Analysis</a:t>
            </a:r>
            <a:endParaRPr lang="en-US" sz="3850" dirty="0"/>
          </a:p>
        </p:txBody>
      </p:sp>
      <p:sp>
        <p:nvSpPr>
          <p:cNvPr id="4" name="Text 1"/>
          <p:cNvSpPr/>
          <p:nvPr/>
        </p:nvSpPr>
        <p:spPr>
          <a:xfrm>
            <a:off x="837724" y="4217670"/>
            <a:ext cx="7468553" cy="1340168"/>
          </a:xfrm>
          <a:prstGeom prst="rect">
            <a:avLst/>
          </a:prstGeom>
          <a:noFill/>
          <a:ln/>
        </p:spPr>
        <p:txBody>
          <a:bodyPr wrap="square" lIns="0" tIns="0" rIns="0" bIns="0" rtlCol="0" anchor="t"/>
          <a:lstStyle/>
          <a:p>
            <a:pPr algn="l" indent="0" marL="0">
              <a:lnSpc>
                <a:spcPts val="2600"/>
              </a:lnSpc>
              <a:buNone/>
            </a:pPr>
            <a:r>
              <a:rPr lang="en-US" sz="1600" dirty="0">
                <a:solidFill>
                  <a:srgbClr val="F9EEE7"/>
                </a:solidFill>
                <a:latin typeface="Quattrocento" pitchFamily="34" charset="0"/>
                <a:ea typeface="Quattrocento" pitchFamily="34" charset="-122"/>
                <a:cs typeface="Quattrocento" pitchFamily="34" charset="-120"/>
              </a:rPr>
              <a:t>This project analyzes customer shopping behavior using transactional data from 3,900 purchases to uncover insights into spending patterns, customer segments, product preferences, and subscription behavior. The goal is to guide strategic business decisions.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16637" y="752237"/>
            <a:ext cx="7527727" cy="526971"/>
          </a:xfrm>
          <a:prstGeom prst="rect">
            <a:avLst/>
          </a:prstGeom>
          <a:noFill/>
          <a:ln/>
        </p:spPr>
        <p:txBody>
          <a:bodyPr wrap="none" lIns="0" tIns="0" rIns="0" bIns="0" rtlCol="0" anchor="t"/>
          <a:lstStyle/>
          <a:p>
            <a:pPr algn="l" indent="0" marL="0">
              <a:lnSpc>
                <a:spcPts val="4100"/>
              </a:lnSpc>
              <a:buNone/>
            </a:pPr>
            <a:r>
              <a:rPr lang="en-US" sz="3300" dirty="0">
                <a:solidFill>
                  <a:srgbClr val="FFD9BE"/>
                </a:solidFill>
                <a:latin typeface="Quattrocento" pitchFamily="34" charset="0"/>
                <a:ea typeface="Quattrocento" pitchFamily="34" charset="-122"/>
                <a:cs typeface="Quattrocento" pitchFamily="34" charset="-120"/>
              </a:rPr>
              <a:t>Project Overview and Dataset Summary</a:t>
            </a:r>
            <a:endParaRPr lang="en-US" sz="3300" dirty="0"/>
          </a:p>
        </p:txBody>
      </p:sp>
      <p:sp>
        <p:nvSpPr>
          <p:cNvPr id="4" name="Shape 1"/>
          <p:cNvSpPr/>
          <p:nvPr/>
        </p:nvSpPr>
        <p:spPr>
          <a:xfrm>
            <a:off x="716637" y="1547932"/>
            <a:ext cx="7710726" cy="1348026"/>
          </a:xfrm>
          <a:prstGeom prst="roundRect">
            <a:avLst>
              <a:gd name="adj" fmla="val 8140"/>
            </a:avLst>
          </a:prstGeom>
          <a:solidFill>
            <a:srgbClr val="123332"/>
          </a:solidFill>
          <a:ln w="22860">
            <a:solidFill>
              <a:srgbClr val="4A6B6A"/>
            </a:solidFill>
            <a:prstDash val="solid"/>
          </a:ln>
        </p:spPr>
      </p:sp>
      <p:sp>
        <p:nvSpPr>
          <p:cNvPr id="5" name="Shape 2"/>
          <p:cNvSpPr/>
          <p:nvPr/>
        </p:nvSpPr>
        <p:spPr>
          <a:xfrm>
            <a:off x="693777" y="1547932"/>
            <a:ext cx="91440" cy="1348026"/>
          </a:xfrm>
          <a:prstGeom prst="roundRect">
            <a:avLst>
              <a:gd name="adj" fmla="val 29391"/>
            </a:avLst>
          </a:prstGeom>
          <a:solidFill>
            <a:srgbClr val="EF9C82"/>
          </a:solidFill>
          <a:ln/>
        </p:spPr>
      </p:sp>
      <p:sp>
        <p:nvSpPr>
          <p:cNvPr id="6" name="Text 3"/>
          <p:cNvSpPr/>
          <p:nvPr/>
        </p:nvSpPr>
        <p:spPr>
          <a:xfrm>
            <a:off x="987147" y="1749862"/>
            <a:ext cx="2107763" cy="263366"/>
          </a:xfrm>
          <a:prstGeom prst="rect">
            <a:avLst/>
          </a:prstGeom>
          <a:noFill/>
          <a:ln/>
        </p:spPr>
        <p:txBody>
          <a:bodyPr wrap="none" lIns="0" tIns="0" rIns="0" bIns="0" rtlCol="0" anchor="t"/>
          <a:lstStyle/>
          <a:p>
            <a:pPr algn="l" indent="0" marL="0">
              <a:lnSpc>
                <a:spcPts val="2050"/>
              </a:lnSpc>
              <a:buNone/>
            </a:pPr>
            <a:r>
              <a:rPr lang="en-US" sz="1650" dirty="0">
                <a:solidFill>
                  <a:srgbClr val="F9EEE7"/>
                </a:solidFill>
                <a:latin typeface="Quattrocento" pitchFamily="34" charset="0"/>
                <a:ea typeface="Quattrocento" pitchFamily="34" charset="-122"/>
                <a:cs typeface="Quattrocento" pitchFamily="34" charset="-120"/>
              </a:rPr>
              <a:t>Project Goal</a:t>
            </a:r>
            <a:endParaRPr lang="en-US" sz="1650" dirty="0"/>
          </a:p>
        </p:txBody>
      </p:sp>
      <p:sp>
        <p:nvSpPr>
          <p:cNvPr id="7" name="Text 4"/>
          <p:cNvSpPr/>
          <p:nvPr/>
        </p:nvSpPr>
        <p:spPr>
          <a:xfrm>
            <a:off x="987147" y="2120622"/>
            <a:ext cx="7238286" cy="573405"/>
          </a:xfrm>
          <a:prstGeom prst="rect">
            <a:avLst/>
          </a:prstGeom>
          <a:noFill/>
          <a:ln/>
        </p:spPr>
        <p:txBody>
          <a:bodyPr wrap="square" lIns="0" tIns="0" rIns="0" bIns="0" rtlCol="0" anchor="t"/>
          <a:lstStyle/>
          <a:p>
            <a:pPr algn="l" indent="0" marL="0">
              <a:lnSpc>
                <a:spcPts val="2250"/>
              </a:lnSpc>
              <a:buNone/>
            </a:pPr>
            <a:r>
              <a:rPr lang="en-US" sz="1400" dirty="0">
                <a:solidFill>
                  <a:srgbClr val="F9EEE7"/>
                </a:solidFill>
                <a:latin typeface="Quattrocento" pitchFamily="34" charset="0"/>
                <a:ea typeface="Quattrocento" pitchFamily="34" charset="-122"/>
                <a:cs typeface="Quattrocento" pitchFamily="34" charset="-120"/>
              </a:rPr>
              <a:t>Uncover actionable insights from 3,900 customer purchases to optimize business strategy, focusing on spending, segmentation, and product preferences.</a:t>
            </a:r>
            <a:endParaRPr lang="en-US" sz="1400" dirty="0"/>
          </a:p>
        </p:txBody>
      </p:sp>
      <p:sp>
        <p:nvSpPr>
          <p:cNvPr id="8" name="Shape 5"/>
          <p:cNvSpPr/>
          <p:nvPr/>
        </p:nvSpPr>
        <p:spPr>
          <a:xfrm>
            <a:off x="716637" y="3075027"/>
            <a:ext cx="7710726" cy="1348026"/>
          </a:xfrm>
          <a:prstGeom prst="roundRect">
            <a:avLst>
              <a:gd name="adj" fmla="val 8140"/>
            </a:avLst>
          </a:prstGeom>
          <a:solidFill>
            <a:srgbClr val="123332"/>
          </a:solidFill>
          <a:ln w="22860">
            <a:solidFill>
              <a:srgbClr val="4A6B6A"/>
            </a:solidFill>
            <a:prstDash val="solid"/>
          </a:ln>
        </p:spPr>
      </p:sp>
      <p:sp>
        <p:nvSpPr>
          <p:cNvPr id="9" name="Shape 6"/>
          <p:cNvSpPr/>
          <p:nvPr/>
        </p:nvSpPr>
        <p:spPr>
          <a:xfrm>
            <a:off x="693777" y="3075027"/>
            <a:ext cx="91440" cy="1348026"/>
          </a:xfrm>
          <a:prstGeom prst="roundRect">
            <a:avLst>
              <a:gd name="adj" fmla="val 29391"/>
            </a:avLst>
          </a:prstGeom>
          <a:solidFill>
            <a:srgbClr val="EF9C82"/>
          </a:solidFill>
          <a:ln/>
        </p:spPr>
      </p:sp>
      <p:sp>
        <p:nvSpPr>
          <p:cNvPr id="10" name="Text 7"/>
          <p:cNvSpPr/>
          <p:nvPr/>
        </p:nvSpPr>
        <p:spPr>
          <a:xfrm>
            <a:off x="987147" y="3276957"/>
            <a:ext cx="2107763" cy="263366"/>
          </a:xfrm>
          <a:prstGeom prst="rect">
            <a:avLst/>
          </a:prstGeom>
          <a:noFill/>
          <a:ln/>
        </p:spPr>
        <p:txBody>
          <a:bodyPr wrap="none" lIns="0" tIns="0" rIns="0" bIns="0" rtlCol="0" anchor="t"/>
          <a:lstStyle/>
          <a:p>
            <a:pPr algn="l" indent="0" marL="0">
              <a:lnSpc>
                <a:spcPts val="2050"/>
              </a:lnSpc>
              <a:buNone/>
            </a:pPr>
            <a:r>
              <a:rPr lang="en-US" sz="1650" dirty="0">
                <a:solidFill>
                  <a:srgbClr val="F9EEE7"/>
                </a:solidFill>
                <a:latin typeface="Quattrocento" pitchFamily="34" charset="0"/>
                <a:ea typeface="Quattrocento" pitchFamily="34" charset="-122"/>
                <a:cs typeface="Quattrocento" pitchFamily="34" charset="-120"/>
              </a:rPr>
              <a:t>Dataset Scope</a:t>
            </a:r>
            <a:endParaRPr lang="en-US" sz="1650" dirty="0"/>
          </a:p>
        </p:txBody>
      </p:sp>
      <p:sp>
        <p:nvSpPr>
          <p:cNvPr id="11" name="Text 8"/>
          <p:cNvSpPr/>
          <p:nvPr/>
        </p:nvSpPr>
        <p:spPr>
          <a:xfrm>
            <a:off x="987147" y="3647718"/>
            <a:ext cx="7238286" cy="573405"/>
          </a:xfrm>
          <a:prstGeom prst="rect">
            <a:avLst/>
          </a:prstGeom>
          <a:noFill/>
          <a:ln/>
        </p:spPr>
        <p:txBody>
          <a:bodyPr wrap="square" lIns="0" tIns="0" rIns="0" bIns="0" rtlCol="0" anchor="t"/>
          <a:lstStyle/>
          <a:p>
            <a:pPr algn="l" indent="0" marL="0">
              <a:lnSpc>
                <a:spcPts val="2250"/>
              </a:lnSpc>
              <a:buNone/>
            </a:pPr>
            <a:r>
              <a:rPr lang="en-US" sz="1400" dirty="0">
                <a:solidFill>
                  <a:srgbClr val="F9EEE7"/>
                </a:solidFill>
                <a:latin typeface="Quattrocento" pitchFamily="34" charset="0"/>
                <a:ea typeface="Quattrocento" pitchFamily="34" charset="-122"/>
                <a:cs typeface="Quattrocento" pitchFamily="34" charset="-120"/>
              </a:rPr>
              <a:t>3,900 rows and 18 columns of transactional data, including demographics, purchase details, and shopping behavior.</a:t>
            </a:r>
            <a:endParaRPr lang="en-US" sz="1400" dirty="0"/>
          </a:p>
        </p:txBody>
      </p:sp>
      <p:sp>
        <p:nvSpPr>
          <p:cNvPr id="12" name="Shape 9"/>
          <p:cNvSpPr/>
          <p:nvPr/>
        </p:nvSpPr>
        <p:spPr>
          <a:xfrm>
            <a:off x="716637" y="4602123"/>
            <a:ext cx="7710726" cy="1348026"/>
          </a:xfrm>
          <a:prstGeom prst="roundRect">
            <a:avLst>
              <a:gd name="adj" fmla="val 8140"/>
            </a:avLst>
          </a:prstGeom>
          <a:solidFill>
            <a:srgbClr val="123332"/>
          </a:solidFill>
          <a:ln w="22860">
            <a:solidFill>
              <a:srgbClr val="4A6B6A"/>
            </a:solidFill>
            <a:prstDash val="solid"/>
          </a:ln>
        </p:spPr>
      </p:sp>
      <p:sp>
        <p:nvSpPr>
          <p:cNvPr id="13" name="Shape 10"/>
          <p:cNvSpPr/>
          <p:nvPr/>
        </p:nvSpPr>
        <p:spPr>
          <a:xfrm>
            <a:off x="693777" y="4602123"/>
            <a:ext cx="91440" cy="1348026"/>
          </a:xfrm>
          <a:prstGeom prst="roundRect">
            <a:avLst>
              <a:gd name="adj" fmla="val 29391"/>
            </a:avLst>
          </a:prstGeom>
          <a:solidFill>
            <a:srgbClr val="EF9C82"/>
          </a:solidFill>
          <a:ln/>
        </p:spPr>
      </p:sp>
      <p:sp>
        <p:nvSpPr>
          <p:cNvPr id="14" name="Text 11"/>
          <p:cNvSpPr/>
          <p:nvPr/>
        </p:nvSpPr>
        <p:spPr>
          <a:xfrm>
            <a:off x="987147" y="4804053"/>
            <a:ext cx="2107763" cy="263366"/>
          </a:xfrm>
          <a:prstGeom prst="rect">
            <a:avLst/>
          </a:prstGeom>
          <a:noFill/>
          <a:ln/>
        </p:spPr>
        <p:txBody>
          <a:bodyPr wrap="none" lIns="0" tIns="0" rIns="0" bIns="0" rtlCol="0" anchor="t"/>
          <a:lstStyle/>
          <a:p>
            <a:pPr algn="l" indent="0" marL="0">
              <a:lnSpc>
                <a:spcPts val="2050"/>
              </a:lnSpc>
              <a:buNone/>
            </a:pPr>
            <a:r>
              <a:rPr lang="en-US" sz="1650" dirty="0">
                <a:solidFill>
                  <a:srgbClr val="F9EEE7"/>
                </a:solidFill>
                <a:latin typeface="Quattrocento" pitchFamily="34" charset="0"/>
                <a:ea typeface="Quattrocento" pitchFamily="34" charset="-122"/>
                <a:cs typeface="Quattrocento" pitchFamily="34" charset="-120"/>
              </a:rPr>
              <a:t>Key Features</a:t>
            </a:r>
            <a:endParaRPr lang="en-US" sz="1650" dirty="0"/>
          </a:p>
        </p:txBody>
      </p:sp>
      <p:sp>
        <p:nvSpPr>
          <p:cNvPr id="15" name="Text 12"/>
          <p:cNvSpPr/>
          <p:nvPr/>
        </p:nvSpPr>
        <p:spPr>
          <a:xfrm>
            <a:off x="987147" y="5174813"/>
            <a:ext cx="7238286" cy="573405"/>
          </a:xfrm>
          <a:prstGeom prst="rect">
            <a:avLst/>
          </a:prstGeom>
          <a:noFill/>
          <a:ln/>
        </p:spPr>
        <p:txBody>
          <a:bodyPr wrap="square" lIns="0" tIns="0" rIns="0" bIns="0" rtlCol="0" anchor="t"/>
          <a:lstStyle/>
          <a:p>
            <a:pPr algn="l" indent="0" marL="0">
              <a:lnSpc>
                <a:spcPts val="2250"/>
              </a:lnSpc>
              <a:buNone/>
            </a:pPr>
            <a:r>
              <a:rPr lang="en-US" sz="1400" dirty="0">
                <a:solidFill>
                  <a:srgbClr val="F9EEE7"/>
                </a:solidFill>
                <a:latin typeface="Quattrocento" pitchFamily="34" charset="0"/>
                <a:ea typeface="Quattrocento" pitchFamily="34" charset="-122"/>
                <a:cs typeface="Quattrocento" pitchFamily="34" charset="-120"/>
              </a:rPr>
              <a:t>Age, Gender, Category, Purchase Amount, Subscription Status, Discount Applied, Previous Purchases, and Review Rating.</a:t>
            </a:r>
            <a:endParaRPr lang="en-US" sz="1400" dirty="0"/>
          </a:p>
        </p:txBody>
      </p:sp>
      <p:sp>
        <p:nvSpPr>
          <p:cNvPr id="16" name="Shape 13"/>
          <p:cNvSpPr/>
          <p:nvPr/>
        </p:nvSpPr>
        <p:spPr>
          <a:xfrm>
            <a:off x="716637" y="6129218"/>
            <a:ext cx="7710726" cy="1348026"/>
          </a:xfrm>
          <a:prstGeom prst="roundRect">
            <a:avLst>
              <a:gd name="adj" fmla="val 8140"/>
            </a:avLst>
          </a:prstGeom>
          <a:solidFill>
            <a:srgbClr val="123332"/>
          </a:solidFill>
          <a:ln w="22860">
            <a:solidFill>
              <a:srgbClr val="4A6B6A"/>
            </a:solidFill>
            <a:prstDash val="solid"/>
          </a:ln>
        </p:spPr>
      </p:sp>
      <p:sp>
        <p:nvSpPr>
          <p:cNvPr id="17" name="Shape 14"/>
          <p:cNvSpPr/>
          <p:nvPr/>
        </p:nvSpPr>
        <p:spPr>
          <a:xfrm>
            <a:off x="693777" y="6129218"/>
            <a:ext cx="91440" cy="1348026"/>
          </a:xfrm>
          <a:prstGeom prst="roundRect">
            <a:avLst>
              <a:gd name="adj" fmla="val 29391"/>
            </a:avLst>
          </a:prstGeom>
          <a:solidFill>
            <a:srgbClr val="EF9C82"/>
          </a:solidFill>
          <a:ln/>
        </p:spPr>
      </p:sp>
      <p:sp>
        <p:nvSpPr>
          <p:cNvPr id="18" name="Text 15"/>
          <p:cNvSpPr/>
          <p:nvPr/>
        </p:nvSpPr>
        <p:spPr>
          <a:xfrm>
            <a:off x="987147" y="6331148"/>
            <a:ext cx="2107763" cy="263366"/>
          </a:xfrm>
          <a:prstGeom prst="rect">
            <a:avLst/>
          </a:prstGeom>
          <a:noFill/>
          <a:ln/>
        </p:spPr>
        <p:txBody>
          <a:bodyPr wrap="none" lIns="0" tIns="0" rIns="0" bIns="0" rtlCol="0" anchor="t"/>
          <a:lstStyle/>
          <a:p>
            <a:pPr algn="l" indent="0" marL="0">
              <a:lnSpc>
                <a:spcPts val="2050"/>
              </a:lnSpc>
              <a:buNone/>
            </a:pPr>
            <a:r>
              <a:rPr lang="en-US" sz="1650" dirty="0">
                <a:solidFill>
                  <a:srgbClr val="F9EEE7"/>
                </a:solidFill>
                <a:latin typeface="Quattrocento" pitchFamily="34" charset="0"/>
                <a:ea typeface="Quattrocento" pitchFamily="34" charset="-122"/>
                <a:cs typeface="Quattrocento" pitchFamily="34" charset="-120"/>
              </a:rPr>
              <a:t>Data Note</a:t>
            </a:r>
            <a:endParaRPr lang="en-US" sz="1650" dirty="0"/>
          </a:p>
        </p:txBody>
      </p:sp>
      <p:sp>
        <p:nvSpPr>
          <p:cNvPr id="19" name="Text 16"/>
          <p:cNvSpPr/>
          <p:nvPr/>
        </p:nvSpPr>
        <p:spPr>
          <a:xfrm>
            <a:off x="987147" y="6701909"/>
            <a:ext cx="7238286" cy="573405"/>
          </a:xfrm>
          <a:prstGeom prst="rect">
            <a:avLst/>
          </a:prstGeom>
          <a:noFill/>
          <a:ln/>
        </p:spPr>
        <p:txBody>
          <a:bodyPr wrap="square" lIns="0" tIns="0" rIns="0" bIns="0" rtlCol="0" anchor="t"/>
          <a:lstStyle/>
          <a:p>
            <a:pPr algn="l" indent="0" marL="0">
              <a:lnSpc>
                <a:spcPts val="2250"/>
              </a:lnSpc>
              <a:buNone/>
            </a:pPr>
            <a:r>
              <a:rPr lang="en-US" sz="1400" dirty="0">
                <a:solidFill>
                  <a:srgbClr val="F9EEE7"/>
                </a:solidFill>
                <a:latin typeface="Quattrocento" pitchFamily="34" charset="0"/>
                <a:ea typeface="Quattrocento" pitchFamily="34" charset="-122"/>
                <a:cs typeface="Quattrocento" pitchFamily="34" charset="-120"/>
              </a:rPr>
              <a:t>37 missing values were identified in the Review Rating column and addressed during data preparation.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2337" y="414099"/>
            <a:ext cx="8145066" cy="442913"/>
          </a:xfrm>
          <a:prstGeom prst="rect">
            <a:avLst/>
          </a:prstGeom>
          <a:noFill/>
          <a:ln/>
        </p:spPr>
        <p:txBody>
          <a:bodyPr wrap="none" lIns="0" tIns="0" rIns="0" bIns="0" rtlCol="0" anchor="t"/>
          <a:lstStyle/>
          <a:p>
            <a:pPr algn="l" indent="0" marL="0">
              <a:lnSpc>
                <a:spcPts val="3450"/>
              </a:lnSpc>
              <a:buNone/>
            </a:pPr>
            <a:r>
              <a:rPr lang="en-US" sz="2750" dirty="0">
                <a:solidFill>
                  <a:srgbClr val="FFD9BE"/>
                </a:solidFill>
                <a:latin typeface="Quattrocento" pitchFamily="34" charset="0"/>
                <a:ea typeface="Quattrocento" pitchFamily="34" charset="-122"/>
                <a:cs typeface="Quattrocento" pitchFamily="34" charset="-120"/>
              </a:rPr>
              <a:t>Exploratory Data Analysis (EDA) &amp; Data Preparation</a:t>
            </a:r>
            <a:endParaRPr lang="en-US" sz="2750" dirty="0"/>
          </a:p>
        </p:txBody>
      </p:sp>
      <p:sp>
        <p:nvSpPr>
          <p:cNvPr id="3" name="Text 1"/>
          <p:cNvSpPr/>
          <p:nvPr/>
        </p:nvSpPr>
        <p:spPr>
          <a:xfrm>
            <a:off x="602337" y="1158121"/>
            <a:ext cx="13425726" cy="240983"/>
          </a:xfrm>
          <a:prstGeom prst="rect">
            <a:avLst/>
          </a:prstGeom>
          <a:noFill/>
          <a:ln/>
        </p:spPr>
        <p:txBody>
          <a:bodyPr wrap="none" lIns="0" tIns="0" rIns="0" bIns="0" rtlCol="0" anchor="t"/>
          <a:lstStyle/>
          <a:p>
            <a:pPr algn="l" indent="0" marL="0">
              <a:lnSpc>
                <a:spcPts val="1850"/>
              </a:lnSpc>
              <a:buNone/>
            </a:pPr>
            <a:r>
              <a:rPr lang="en-US" sz="1150" dirty="0">
                <a:solidFill>
                  <a:srgbClr val="F9EEE7"/>
                </a:solidFill>
                <a:latin typeface="Quattrocento" pitchFamily="34" charset="0"/>
                <a:ea typeface="Quattrocento" pitchFamily="34" charset="-122"/>
                <a:cs typeface="Quattrocento" pitchFamily="34" charset="-120"/>
              </a:rPr>
              <a:t>The initial phase involved data cleaning, standardization, and feature engineering in Python to prepare the dataset for structured analysis.</a:t>
            </a:r>
            <a:endParaRPr lang="en-US" sz="1150" dirty="0"/>
          </a:p>
        </p:txBody>
      </p:sp>
      <p:sp>
        <p:nvSpPr>
          <p:cNvPr id="4" name="Text 2"/>
          <p:cNvSpPr/>
          <p:nvPr/>
        </p:nvSpPr>
        <p:spPr>
          <a:xfrm>
            <a:off x="602337" y="1719024"/>
            <a:ext cx="2172772" cy="265747"/>
          </a:xfrm>
          <a:prstGeom prst="rect">
            <a:avLst/>
          </a:prstGeom>
          <a:noFill/>
          <a:ln/>
        </p:spPr>
        <p:txBody>
          <a:bodyPr wrap="none" lIns="0" tIns="0" rIns="0" bIns="0" rtlCol="0" anchor="t"/>
          <a:lstStyle/>
          <a:p>
            <a:pPr algn="l" indent="0" marL="0">
              <a:lnSpc>
                <a:spcPts val="2050"/>
              </a:lnSpc>
              <a:buNone/>
            </a:pPr>
            <a:r>
              <a:rPr lang="en-US" sz="1650" dirty="0">
                <a:solidFill>
                  <a:srgbClr val="FFD9BE"/>
                </a:solidFill>
                <a:latin typeface="Quattrocento" pitchFamily="34" charset="0"/>
                <a:ea typeface="Quattrocento" pitchFamily="34" charset="-122"/>
                <a:cs typeface="Quattrocento" pitchFamily="34" charset="-120"/>
              </a:rPr>
              <a:t>Data Preparation Steps</a:t>
            </a:r>
            <a:endParaRPr lang="en-US" sz="16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58773" y="2158841"/>
            <a:ext cx="225862" cy="225862"/>
          </a:xfrm>
          <a:prstGeom prst="rect">
            <a:avLst/>
          </a:prstGeom>
        </p:spPr>
      </p:pic>
      <p:sp>
        <p:nvSpPr>
          <p:cNvPr id="6" name="Text 3"/>
          <p:cNvSpPr/>
          <p:nvPr/>
        </p:nvSpPr>
        <p:spPr>
          <a:xfrm>
            <a:off x="1091684" y="2154198"/>
            <a:ext cx="2187535" cy="221456"/>
          </a:xfrm>
          <a:prstGeom prst="rect">
            <a:avLst/>
          </a:prstGeom>
          <a:noFill/>
          <a:ln/>
        </p:spPr>
        <p:txBody>
          <a:bodyPr wrap="none" lIns="0" tIns="0" rIns="0" bIns="0" rtlCol="0" anchor="t"/>
          <a:lstStyle/>
          <a:p>
            <a:pPr algn="l" indent="0" marL="0">
              <a:lnSpc>
                <a:spcPts val="1700"/>
              </a:lnSpc>
              <a:buNone/>
            </a:pPr>
            <a:r>
              <a:rPr lang="en-US" sz="1350" dirty="0">
                <a:solidFill>
                  <a:srgbClr val="F9EEE7"/>
                </a:solidFill>
                <a:latin typeface="Quattrocento" pitchFamily="34" charset="0"/>
                <a:ea typeface="Quattrocento" pitchFamily="34" charset="-122"/>
                <a:cs typeface="Quattrocento" pitchFamily="34" charset="-120"/>
              </a:rPr>
              <a:t>Data Loading &amp; Exploration</a:t>
            </a:r>
            <a:endParaRPr lang="en-US" sz="1350" dirty="0"/>
          </a:p>
        </p:txBody>
      </p:sp>
      <p:sp>
        <p:nvSpPr>
          <p:cNvPr id="7" name="Text 4"/>
          <p:cNvSpPr/>
          <p:nvPr/>
        </p:nvSpPr>
        <p:spPr>
          <a:xfrm>
            <a:off x="1091684" y="2526149"/>
            <a:ext cx="6039803" cy="497205"/>
          </a:xfrm>
          <a:prstGeom prst="rect">
            <a:avLst/>
          </a:prstGeom>
          <a:noFill/>
          <a:ln/>
        </p:spPr>
        <p:txBody>
          <a:bodyPr wrap="square" lIns="0" tIns="0" rIns="0" bIns="0" rtlCol="0" anchor="t"/>
          <a:lstStyle/>
          <a:p>
            <a:pPr algn="l" indent="0" marL="0">
              <a:lnSpc>
                <a:spcPts val="1850"/>
              </a:lnSpc>
              <a:buNone/>
            </a:pPr>
            <a:r>
              <a:rPr lang="en-US" sz="1150" dirty="0">
                <a:solidFill>
                  <a:srgbClr val="F9EEE7"/>
                </a:solidFill>
                <a:latin typeface="Quattrocento" pitchFamily="34" charset="0"/>
                <a:ea typeface="Quattrocento" pitchFamily="34" charset="-122"/>
                <a:cs typeface="Quattrocento" pitchFamily="34" charset="-120"/>
              </a:rPr>
              <a:t>Imported data and used </a:t>
            </a:r>
            <a:pPr algn="l" indent="0" marL="0">
              <a:lnSpc>
                <a:spcPts val="1850"/>
              </a:lnSpc>
              <a:buNone/>
            </a:pPr>
            <a:r>
              <a:rPr lang="en-US" sz="1150" dirty="0">
                <a:solidFill>
                  <a:srgbClr val="F9EEE7"/>
                </a:solidFill>
                <a:highlight>
                  <a:srgbClr val="1F403F"/>
                </a:highlight>
                <a:latin typeface="Consolas" pitchFamily="34" charset="0"/>
                <a:ea typeface="Consolas" pitchFamily="34" charset="-122"/>
                <a:cs typeface="Consolas" pitchFamily="34" charset="-120"/>
              </a:rPr>
              <a:t>df.info()</a:t>
            </a:r>
            <a:pPr algn="l" indent="0" marL="0">
              <a:lnSpc>
                <a:spcPts val="1850"/>
              </a:lnSpc>
              <a:buNone/>
            </a:pPr>
            <a:r>
              <a:rPr lang="en-US" sz="1150" dirty="0">
                <a:solidFill>
                  <a:srgbClr val="F9EEE7"/>
                </a:solidFill>
                <a:latin typeface="Quattrocento" pitchFamily="34" charset="0"/>
                <a:ea typeface="Quattrocento" pitchFamily="34" charset="-122"/>
                <a:cs typeface="Quattrocento" pitchFamily="34" charset="-120"/>
              </a:rPr>
              <a:t> and </a:t>
            </a:r>
            <a:pPr algn="l" indent="0" marL="0">
              <a:lnSpc>
                <a:spcPts val="1850"/>
              </a:lnSpc>
              <a:buNone/>
            </a:pPr>
            <a:r>
              <a:rPr lang="en-US" sz="1150" dirty="0">
                <a:solidFill>
                  <a:srgbClr val="F9EEE7"/>
                </a:solidFill>
                <a:highlight>
                  <a:srgbClr val="1F403F"/>
                </a:highlight>
                <a:latin typeface="Consolas" pitchFamily="34" charset="0"/>
                <a:ea typeface="Consolas" pitchFamily="34" charset="-122"/>
                <a:cs typeface="Consolas" pitchFamily="34" charset="-120"/>
              </a:rPr>
              <a:t>.describe()</a:t>
            </a:r>
            <a:pPr algn="l" indent="0" marL="0">
              <a:lnSpc>
                <a:spcPts val="1850"/>
              </a:lnSpc>
              <a:buNone/>
            </a:pPr>
            <a:r>
              <a:rPr lang="en-US" sz="1150" dirty="0">
                <a:solidFill>
                  <a:srgbClr val="F9EEE7"/>
                </a:solidFill>
                <a:latin typeface="Quattrocento" pitchFamily="34" charset="0"/>
                <a:ea typeface="Quattrocento" pitchFamily="34" charset="-122"/>
                <a:cs typeface="Quattrocento" pitchFamily="34" charset="-120"/>
              </a:rPr>
              <a:t> for initial structure and summary statistics.</a:t>
            </a:r>
            <a:endParaRPr lang="en-US" sz="11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8773" y="3329107"/>
            <a:ext cx="225862" cy="225862"/>
          </a:xfrm>
          <a:prstGeom prst="rect">
            <a:avLst/>
          </a:prstGeom>
        </p:spPr>
      </p:pic>
      <p:sp>
        <p:nvSpPr>
          <p:cNvPr id="9" name="Text 5"/>
          <p:cNvSpPr/>
          <p:nvPr/>
        </p:nvSpPr>
        <p:spPr>
          <a:xfrm>
            <a:off x="1091684" y="3324463"/>
            <a:ext cx="1787604" cy="221456"/>
          </a:xfrm>
          <a:prstGeom prst="rect">
            <a:avLst/>
          </a:prstGeom>
          <a:noFill/>
          <a:ln/>
        </p:spPr>
        <p:txBody>
          <a:bodyPr wrap="none" lIns="0" tIns="0" rIns="0" bIns="0" rtlCol="0" anchor="t"/>
          <a:lstStyle/>
          <a:p>
            <a:pPr algn="l" indent="0" marL="0">
              <a:lnSpc>
                <a:spcPts val="1700"/>
              </a:lnSpc>
              <a:buNone/>
            </a:pPr>
            <a:r>
              <a:rPr lang="en-US" sz="1350" dirty="0">
                <a:solidFill>
                  <a:srgbClr val="F9EEE7"/>
                </a:solidFill>
                <a:latin typeface="Quattrocento" pitchFamily="34" charset="0"/>
                <a:ea typeface="Quattrocento" pitchFamily="34" charset="-122"/>
                <a:cs typeface="Quattrocento" pitchFamily="34" charset="-120"/>
              </a:rPr>
              <a:t>Missing Data Handling</a:t>
            </a:r>
            <a:endParaRPr lang="en-US" sz="1350" dirty="0"/>
          </a:p>
        </p:txBody>
      </p:sp>
      <p:sp>
        <p:nvSpPr>
          <p:cNvPr id="10" name="Text 6"/>
          <p:cNvSpPr/>
          <p:nvPr/>
        </p:nvSpPr>
        <p:spPr>
          <a:xfrm>
            <a:off x="1091684" y="3696414"/>
            <a:ext cx="6039803" cy="481965"/>
          </a:xfrm>
          <a:prstGeom prst="rect">
            <a:avLst/>
          </a:prstGeom>
          <a:noFill/>
          <a:ln/>
        </p:spPr>
        <p:txBody>
          <a:bodyPr wrap="square" lIns="0" tIns="0" rIns="0" bIns="0" rtlCol="0" anchor="t"/>
          <a:lstStyle/>
          <a:p>
            <a:pPr algn="l" indent="0" marL="0">
              <a:lnSpc>
                <a:spcPts val="1850"/>
              </a:lnSpc>
              <a:buNone/>
            </a:pPr>
            <a:r>
              <a:rPr lang="en-US" sz="1150" dirty="0">
                <a:solidFill>
                  <a:srgbClr val="F9EEE7"/>
                </a:solidFill>
                <a:latin typeface="Quattrocento" pitchFamily="34" charset="0"/>
                <a:ea typeface="Quattrocento" pitchFamily="34" charset="-122"/>
                <a:cs typeface="Quattrocento" pitchFamily="34" charset="-120"/>
              </a:rPr>
              <a:t>Imputed 37 missing values in Review Rating using the median rating of each product category.</a:t>
            </a:r>
            <a:endParaRPr lang="en-US" sz="11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8773" y="4484132"/>
            <a:ext cx="225862" cy="225862"/>
          </a:xfrm>
          <a:prstGeom prst="rect">
            <a:avLst/>
          </a:prstGeom>
        </p:spPr>
      </p:pic>
      <p:sp>
        <p:nvSpPr>
          <p:cNvPr id="12" name="Text 7"/>
          <p:cNvSpPr/>
          <p:nvPr/>
        </p:nvSpPr>
        <p:spPr>
          <a:xfrm>
            <a:off x="1091684" y="4479488"/>
            <a:ext cx="2179558" cy="221456"/>
          </a:xfrm>
          <a:prstGeom prst="rect">
            <a:avLst/>
          </a:prstGeom>
          <a:noFill/>
          <a:ln/>
        </p:spPr>
        <p:txBody>
          <a:bodyPr wrap="none" lIns="0" tIns="0" rIns="0" bIns="0" rtlCol="0" anchor="t"/>
          <a:lstStyle/>
          <a:p>
            <a:pPr algn="l" indent="0" marL="0">
              <a:lnSpc>
                <a:spcPts val="1700"/>
              </a:lnSpc>
              <a:buNone/>
            </a:pPr>
            <a:r>
              <a:rPr lang="en-US" sz="1350" dirty="0">
                <a:solidFill>
                  <a:srgbClr val="F9EEE7"/>
                </a:solidFill>
                <a:latin typeface="Quattrocento" pitchFamily="34" charset="0"/>
                <a:ea typeface="Quattrocento" pitchFamily="34" charset="-122"/>
                <a:cs typeface="Quattrocento" pitchFamily="34" charset="-120"/>
              </a:rPr>
              <a:t>Standardization &amp; Cleaning</a:t>
            </a:r>
            <a:endParaRPr lang="en-US" sz="1350" dirty="0"/>
          </a:p>
        </p:txBody>
      </p:sp>
      <p:sp>
        <p:nvSpPr>
          <p:cNvPr id="13" name="Text 8"/>
          <p:cNvSpPr/>
          <p:nvPr/>
        </p:nvSpPr>
        <p:spPr>
          <a:xfrm>
            <a:off x="1091684" y="4851440"/>
            <a:ext cx="6039803" cy="497205"/>
          </a:xfrm>
          <a:prstGeom prst="rect">
            <a:avLst/>
          </a:prstGeom>
          <a:noFill/>
          <a:ln/>
        </p:spPr>
        <p:txBody>
          <a:bodyPr wrap="square" lIns="0" tIns="0" rIns="0" bIns="0" rtlCol="0" anchor="t"/>
          <a:lstStyle/>
          <a:p>
            <a:pPr algn="l" indent="0" marL="0">
              <a:lnSpc>
                <a:spcPts val="1850"/>
              </a:lnSpc>
              <a:buNone/>
            </a:pPr>
            <a:r>
              <a:rPr lang="en-US" sz="1150" dirty="0">
                <a:solidFill>
                  <a:srgbClr val="F9EEE7"/>
                </a:solidFill>
                <a:latin typeface="Quattrocento" pitchFamily="34" charset="0"/>
                <a:ea typeface="Quattrocento" pitchFamily="34" charset="-122"/>
                <a:cs typeface="Quattrocento" pitchFamily="34" charset="-120"/>
              </a:rPr>
              <a:t>Renamed columns to </a:t>
            </a:r>
            <a:pPr algn="l" indent="0" marL="0">
              <a:lnSpc>
                <a:spcPts val="1850"/>
              </a:lnSpc>
              <a:buNone/>
            </a:pPr>
            <a:r>
              <a:rPr lang="en-US" sz="1150" b="1" dirty="0">
                <a:solidFill>
                  <a:srgbClr val="F9EEE7"/>
                </a:solidFill>
                <a:latin typeface="Quattrocento" pitchFamily="34" charset="0"/>
                <a:ea typeface="Quattrocento" pitchFamily="34" charset="-122"/>
                <a:cs typeface="Quattrocento" pitchFamily="34" charset="-120"/>
              </a:rPr>
              <a:t>snake case</a:t>
            </a:r>
            <a:pPr algn="l" indent="0" marL="0">
              <a:lnSpc>
                <a:spcPts val="1850"/>
              </a:lnSpc>
              <a:buNone/>
            </a:pPr>
            <a:r>
              <a:rPr lang="en-US" sz="1150" dirty="0">
                <a:solidFill>
                  <a:srgbClr val="F9EEE7"/>
                </a:solidFill>
                <a:latin typeface="Quattrocento" pitchFamily="34" charset="0"/>
                <a:ea typeface="Quattrocento" pitchFamily="34" charset="-122"/>
                <a:cs typeface="Quattrocento" pitchFamily="34" charset="-120"/>
              </a:rPr>
              <a:t> and dropped the redundant </a:t>
            </a:r>
            <a:pPr algn="l" indent="0" marL="0">
              <a:lnSpc>
                <a:spcPts val="1850"/>
              </a:lnSpc>
              <a:buNone/>
            </a:pPr>
            <a:r>
              <a:rPr lang="en-US" sz="1150" dirty="0">
                <a:solidFill>
                  <a:srgbClr val="F9EEE7"/>
                </a:solidFill>
                <a:highlight>
                  <a:srgbClr val="1F403F"/>
                </a:highlight>
                <a:latin typeface="Consolas" pitchFamily="34" charset="0"/>
                <a:ea typeface="Consolas" pitchFamily="34" charset="-122"/>
                <a:cs typeface="Consolas" pitchFamily="34" charset="-120"/>
              </a:rPr>
              <a:t>promo_code_used</a:t>
            </a:r>
            <a:pPr algn="l" indent="0" marL="0">
              <a:lnSpc>
                <a:spcPts val="1850"/>
              </a:lnSpc>
              <a:buNone/>
            </a:pPr>
            <a:r>
              <a:rPr lang="en-US" sz="1150" dirty="0">
                <a:solidFill>
                  <a:srgbClr val="F9EEE7"/>
                </a:solidFill>
                <a:latin typeface="Quattrocento" pitchFamily="34" charset="0"/>
                <a:ea typeface="Quattrocento" pitchFamily="34" charset="-122"/>
                <a:cs typeface="Quattrocento" pitchFamily="34" charset="-120"/>
              </a:rPr>
              <a:t> column.</a:t>
            </a:r>
            <a:endParaRPr lang="en-US" sz="115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8773" y="5654397"/>
            <a:ext cx="225862" cy="225862"/>
          </a:xfrm>
          <a:prstGeom prst="rect">
            <a:avLst/>
          </a:prstGeom>
        </p:spPr>
      </p:pic>
      <p:sp>
        <p:nvSpPr>
          <p:cNvPr id="15" name="Text 9"/>
          <p:cNvSpPr/>
          <p:nvPr/>
        </p:nvSpPr>
        <p:spPr>
          <a:xfrm>
            <a:off x="1091684" y="5649754"/>
            <a:ext cx="1771769" cy="221456"/>
          </a:xfrm>
          <a:prstGeom prst="rect">
            <a:avLst/>
          </a:prstGeom>
          <a:noFill/>
          <a:ln/>
        </p:spPr>
        <p:txBody>
          <a:bodyPr wrap="none" lIns="0" tIns="0" rIns="0" bIns="0" rtlCol="0" anchor="t"/>
          <a:lstStyle/>
          <a:p>
            <a:pPr algn="l" indent="0" marL="0">
              <a:lnSpc>
                <a:spcPts val="1700"/>
              </a:lnSpc>
              <a:buNone/>
            </a:pPr>
            <a:r>
              <a:rPr lang="en-US" sz="1350" dirty="0">
                <a:solidFill>
                  <a:srgbClr val="F9EEE7"/>
                </a:solidFill>
                <a:latin typeface="Quattrocento" pitchFamily="34" charset="0"/>
                <a:ea typeface="Quattrocento" pitchFamily="34" charset="-122"/>
                <a:cs typeface="Quattrocento" pitchFamily="34" charset="-120"/>
              </a:rPr>
              <a:t>Feature Engineering</a:t>
            </a:r>
            <a:endParaRPr lang="en-US" sz="1350" dirty="0"/>
          </a:p>
        </p:txBody>
      </p:sp>
      <p:sp>
        <p:nvSpPr>
          <p:cNvPr id="16" name="Text 10"/>
          <p:cNvSpPr/>
          <p:nvPr/>
        </p:nvSpPr>
        <p:spPr>
          <a:xfrm>
            <a:off x="1091684" y="6021705"/>
            <a:ext cx="6039803" cy="256223"/>
          </a:xfrm>
          <a:prstGeom prst="rect">
            <a:avLst/>
          </a:prstGeom>
          <a:noFill/>
          <a:ln/>
        </p:spPr>
        <p:txBody>
          <a:bodyPr wrap="none" lIns="0" tIns="0" rIns="0" bIns="0" rtlCol="0" anchor="t"/>
          <a:lstStyle/>
          <a:p>
            <a:pPr algn="l" indent="0" marL="0">
              <a:lnSpc>
                <a:spcPts val="1850"/>
              </a:lnSpc>
              <a:buNone/>
            </a:pPr>
            <a:r>
              <a:rPr lang="en-US" sz="1150" dirty="0">
                <a:solidFill>
                  <a:srgbClr val="F9EEE7"/>
                </a:solidFill>
                <a:latin typeface="Quattrocento" pitchFamily="34" charset="0"/>
                <a:ea typeface="Quattrocento" pitchFamily="34" charset="-122"/>
                <a:cs typeface="Quattrocento" pitchFamily="34" charset="-120"/>
              </a:rPr>
              <a:t>Created </a:t>
            </a:r>
            <a:pPr algn="l" indent="0" marL="0">
              <a:lnSpc>
                <a:spcPts val="1850"/>
              </a:lnSpc>
              <a:buNone/>
            </a:pPr>
            <a:r>
              <a:rPr lang="en-US" sz="1150" dirty="0">
                <a:solidFill>
                  <a:srgbClr val="F9EEE7"/>
                </a:solidFill>
                <a:highlight>
                  <a:srgbClr val="1F403F"/>
                </a:highlight>
                <a:latin typeface="Consolas" pitchFamily="34" charset="0"/>
                <a:ea typeface="Consolas" pitchFamily="34" charset="-122"/>
                <a:cs typeface="Consolas" pitchFamily="34" charset="-120"/>
              </a:rPr>
              <a:t>age_group</a:t>
            </a:r>
            <a:pPr algn="l" indent="0" marL="0">
              <a:lnSpc>
                <a:spcPts val="1850"/>
              </a:lnSpc>
              <a:buNone/>
            </a:pPr>
            <a:r>
              <a:rPr lang="en-US" sz="1150" dirty="0">
                <a:solidFill>
                  <a:srgbClr val="F9EEE7"/>
                </a:solidFill>
                <a:latin typeface="Quattrocento" pitchFamily="34" charset="0"/>
                <a:ea typeface="Quattrocento" pitchFamily="34" charset="-122"/>
                <a:cs typeface="Quattrocento" pitchFamily="34" charset="-120"/>
              </a:rPr>
              <a:t> (by binning ages) and </a:t>
            </a:r>
            <a:pPr algn="l" indent="0" marL="0">
              <a:lnSpc>
                <a:spcPts val="1850"/>
              </a:lnSpc>
              <a:buNone/>
            </a:pPr>
            <a:r>
              <a:rPr lang="en-US" sz="1150" dirty="0">
                <a:solidFill>
                  <a:srgbClr val="F9EEE7"/>
                </a:solidFill>
                <a:highlight>
                  <a:srgbClr val="1F403F"/>
                </a:highlight>
                <a:latin typeface="Consolas" pitchFamily="34" charset="0"/>
                <a:ea typeface="Consolas" pitchFamily="34" charset="-122"/>
                <a:cs typeface="Consolas" pitchFamily="34" charset="-120"/>
              </a:rPr>
              <a:t>purchase_frequency_days</a:t>
            </a:r>
            <a:pPr algn="l" indent="0" marL="0">
              <a:lnSpc>
                <a:spcPts val="1850"/>
              </a:lnSpc>
              <a:buNone/>
            </a:pPr>
            <a:r>
              <a:rPr lang="en-US" sz="1150" dirty="0">
                <a:solidFill>
                  <a:srgbClr val="F9EEE7"/>
                </a:solidFill>
                <a:latin typeface="Quattrocento" pitchFamily="34" charset="0"/>
                <a:ea typeface="Quattrocento" pitchFamily="34" charset="-122"/>
                <a:cs typeface="Quattrocento" pitchFamily="34" charset="-120"/>
              </a:rPr>
              <a:t> columns.</a:t>
            </a:r>
            <a:endParaRPr lang="en-US" sz="1150" dirty="0"/>
          </a:p>
        </p:txBody>
      </p:sp>
      <p:pic>
        <p:nvPicPr>
          <p:cNvPr id="17" name="Image 4" descr="preencoded.png">    </p:cNvPr>
          <p:cNvPicPr>
            <a:picLocks noChangeAspect="1"/>
          </p:cNvPicPr>
          <p:nvPr/>
        </p:nvPicPr>
        <p:blipFill>
          <a:blip r:embed="rId9"/>
          <a:stretch>
            <a:fillRect/>
          </a:stretch>
        </p:blipFill>
        <p:spPr>
          <a:xfrm>
            <a:off x="7506533" y="1737955"/>
            <a:ext cx="6529149" cy="6529149"/>
          </a:xfrm>
          <a:prstGeom prst="rect">
            <a:avLst/>
          </a:prstGeom>
        </p:spPr>
      </p:pic>
      <p:sp>
        <p:nvSpPr>
          <p:cNvPr id="18" name="Text 11"/>
          <p:cNvSpPr/>
          <p:nvPr/>
        </p:nvSpPr>
        <p:spPr>
          <a:xfrm>
            <a:off x="7506533" y="8436531"/>
            <a:ext cx="6529149" cy="481965"/>
          </a:xfrm>
          <a:prstGeom prst="rect">
            <a:avLst/>
          </a:prstGeom>
          <a:noFill/>
          <a:ln/>
        </p:spPr>
        <p:txBody>
          <a:bodyPr wrap="square" lIns="0" tIns="0" rIns="0" bIns="0" rtlCol="0" anchor="t"/>
          <a:lstStyle/>
          <a:p>
            <a:pPr algn="l" indent="0" marL="0">
              <a:lnSpc>
                <a:spcPts val="1850"/>
              </a:lnSpc>
              <a:buNone/>
            </a:pPr>
            <a:r>
              <a:rPr lang="en-US" sz="1150" dirty="0">
                <a:solidFill>
                  <a:srgbClr val="F9EEE7"/>
                </a:solidFill>
                <a:latin typeface="Quattrocento" pitchFamily="34" charset="0"/>
                <a:ea typeface="Quattrocento" pitchFamily="34" charset="-122"/>
                <a:cs typeface="Quattrocento" pitchFamily="34" charset="-120"/>
              </a:rPr>
              <a:t>The cleaned DataFrame was then loaded into a SQL Server Management Studio database for advanced SQL analysis.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7724" y="1388983"/>
            <a:ext cx="10034945" cy="615910"/>
          </a:xfrm>
          <a:prstGeom prst="rect">
            <a:avLst/>
          </a:prstGeom>
          <a:noFill/>
          <a:ln/>
        </p:spPr>
        <p:txBody>
          <a:bodyPr wrap="none" lIns="0" tIns="0" rIns="0" bIns="0" rtlCol="0" anchor="t"/>
          <a:lstStyle/>
          <a:p>
            <a:pPr algn="l" indent="0" marL="0">
              <a:lnSpc>
                <a:spcPts val="4850"/>
              </a:lnSpc>
              <a:buNone/>
            </a:pPr>
            <a:r>
              <a:rPr lang="en-US" sz="3850" dirty="0">
                <a:solidFill>
                  <a:srgbClr val="FFD9BE"/>
                </a:solidFill>
                <a:latin typeface="Quattrocento" pitchFamily="34" charset="0"/>
                <a:ea typeface="Quattrocento" pitchFamily="34" charset="-122"/>
                <a:cs typeface="Quattrocento" pitchFamily="34" charset="-120"/>
              </a:rPr>
              <a:t>Key Business Insights: Revenue and Spending</a:t>
            </a:r>
            <a:endParaRPr lang="en-US" sz="3850" dirty="0"/>
          </a:p>
        </p:txBody>
      </p:sp>
      <p:sp>
        <p:nvSpPr>
          <p:cNvPr id="3" name="Text 1"/>
          <p:cNvSpPr/>
          <p:nvPr/>
        </p:nvSpPr>
        <p:spPr>
          <a:xfrm>
            <a:off x="837724" y="2423755"/>
            <a:ext cx="12954952" cy="335042"/>
          </a:xfrm>
          <a:prstGeom prst="rect">
            <a:avLst/>
          </a:prstGeom>
          <a:noFill/>
          <a:ln/>
        </p:spPr>
        <p:txBody>
          <a:bodyPr wrap="none" lIns="0" tIns="0" rIns="0" bIns="0" rtlCol="0" anchor="t"/>
          <a:lstStyle/>
          <a:p>
            <a:pPr algn="l" indent="0" marL="0">
              <a:lnSpc>
                <a:spcPts val="2600"/>
              </a:lnSpc>
              <a:buNone/>
            </a:pPr>
            <a:r>
              <a:rPr lang="en-US" sz="1600" dirty="0">
                <a:solidFill>
                  <a:srgbClr val="F9EEE7"/>
                </a:solidFill>
                <a:latin typeface="Quattrocento" pitchFamily="34" charset="0"/>
                <a:ea typeface="Quattrocento" pitchFamily="34" charset="-122"/>
                <a:cs typeface="Quattrocento" pitchFamily="34" charset="-120"/>
              </a:rPr>
              <a:t>Structured SQL analysis provided clear answers to key business questions regarding revenue generation and high-spending customers.</a:t>
            </a:r>
            <a:endParaRPr lang="en-US" sz="1600" dirty="0"/>
          </a:p>
        </p:txBody>
      </p:sp>
      <p:sp>
        <p:nvSpPr>
          <p:cNvPr id="4" name="Text 2"/>
          <p:cNvSpPr/>
          <p:nvPr/>
        </p:nvSpPr>
        <p:spPr>
          <a:xfrm>
            <a:off x="837724" y="3099078"/>
            <a:ext cx="3042285" cy="691158"/>
          </a:xfrm>
          <a:prstGeom prst="rect">
            <a:avLst/>
          </a:prstGeom>
          <a:noFill/>
          <a:ln/>
        </p:spPr>
        <p:txBody>
          <a:bodyPr wrap="none" lIns="0" tIns="0" rIns="0" bIns="0" rtlCol="0" anchor="t"/>
          <a:lstStyle/>
          <a:p>
            <a:pPr algn="ctr" indent="0" marL="0">
              <a:lnSpc>
                <a:spcPts val="5400"/>
              </a:lnSpc>
              <a:buNone/>
            </a:pPr>
            <a:r>
              <a:rPr lang="en-US" sz="5400" dirty="0">
                <a:solidFill>
                  <a:srgbClr val="F9EEE7"/>
                </a:solidFill>
                <a:latin typeface="Quattrocento" pitchFamily="34" charset="0"/>
                <a:ea typeface="Quattrocento" pitchFamily="34" charset="-122"/>
                <a:cs typeface="Quattrocento" pitchFamily="34" charset="-120"/>
              </a:rPr>
              <a:t>$157,890</a:t>
            </a:r>
            <a:endParaRPr lang="en-US" sz="5400" dirty="0"/>
          </a:p>
        </p:txBody>
      </p:sp>
      <p:sp>
        <p:nvSpPr>
          <p:cNvPr id="5" name="Text 3"/>
          <p:cNvSpPr/>
          <p:nvPr/>
        </p:nvSpPr>
        <p:spPr>
          <a:xfrm>
            <a:off x="1126808" y="4051935"/>
            <a:ext cx="2464118" cy="308015"/>
          </a:xfrm>
          <a:prstGeom prst="rect">
            <a:avLst/>
          </a:prstGeom>
          <a:noFill/>
          <a:ln/>
        </p:spPr>
        <p:txBody>
          <a:bodyPr wrap="none" lIns="0" tIns="0" rIns="0" bIns="0" rtlCol="0" anchor="t"/>
          <a:lstStyle/>
          <a:p>
            <a:pPr algn="ctr" indent="0" marL="0">
              <a:lnSpc>
                <a:spcPts val="2400"/>
              </a:lnSpc>
              <a:buNone/>
            </a:pPr>
            <a:r>
              <a:rPr lang="en-US" sz="1900" dirty="0">
                <a:solidFill>
                  <a:srgbClr val="F9EEE7"/>
                </a:solidFill>
                <a:latin typeface="Quattrocento" pitchFamily="34" charset="0"/>
                <a:ea typeface="Quattrocento" pitchFamily="34" charset="-122"/>
                <a:cs typeface="Quattrocento" pitchFamily="34" charset="-120"/>
              </a:rPr>
              <a:t>Male Revenue</a:t>
            </a:r>
            <a:endParaRPr lang="en-US" sz="1900" dirty="0"/>
          </a:p>
        </p:txBody>
      </p:sp>
      <p:sp>
        <p:nvSpPr>
          <p:cNvPr id="6" name="Text 4"/>
          <p:cNvSpPr/>
          <p:nvPr/>
        </p:nvSpPr>
        <p:spPr>
          <a:xfrm>
            <a:off x="837724" y="4485561"/>
            <a:ext cx="3042285" cy="670084"/>
          </a:xfrm>
          <a:prstGeom prst="rect">
            <a:avLst/>
          </a:prstGeom>
          <a:noFill/>
          <a:ln/>
        </p:spPr>
        <p:txBody>
          <a:bodyPr wrap="square" lIns="0" tIns="0" rIns="0" bIns="0" rtlCol="0" anchor="t"/>
          <a:lstStyle/>
          <a:p>
            <a:pPr algn="ctr" indent="0" marL="0">
              <a:lnSpc>
                <a:spcPts val="2600"/>
              </a:lnSpc>
              <a:buNone/>
            </a:pPr>
            <a:r>
              <a:rPr lang="en-US" sz="1600" dirty="0">
                <a:solidFill>
                  <a:srgbClr val="F9EEE7"/>
                </a:solidFill>
                <a:latin typeface="Quattrocento" pitchFamily="34" charset="0"/>
                <a:ea typeface="Quattrocento" pitchFamily="34" charset="-122"/>
                <a:cs typeface="Quattrocento" pitchFamily="34" charset="-120"/>
              </a:rPr>
              <a:t>Total revenue generated by male customers.</a:t>
            </a:r>
            <a:endParaRPr lang="en-US" sz="1600" dirty="0"/>
          </a:p>
        </p:txBody>
      </p:sp>
      <p:sp>
        <p:nvSpPr>
          <p:cNvPr id="7" name="Text 5"/>
          <p:cNvSpPr/>
          <p:nvPr/>
        </p:nvSpPr>
        <p:spPr>
          <a:xfrm>
            <a:off x="4141827" y="3099078"/>
            <a:ext cx="3042404" cy="691158"/>
          </a:xfrm>
          <a:prstGeom prst="rect">
            <a:avLst/>
          </a:prstGeom>
          <a:noFill/>
          <a:ln/>
        </p:spPr>
        <p:txBody>
          <a:bodyPr wrap="none" lIns="0" tIns="0" rIns="0" bIns="0" rtlCol="0" anchor="t"/>
          <a:lstStyle/>
          <a:p>
            <a:pPr algn="ctr" indent="0" marL="0">
              <a:lnSpc>
                <a:spcPts val="5400"/>
              </a:lnSpc>
              <a:buNone/>
            </a:pPr>
            <a:r>
              <a:rPr lang="en-US" sz="5400" dirty="0">
                <a:solidFill>
                  <a:srgbClr val="F9EEE7"/>
                </a:solidFill>
                <a:latin typeface="Quattrocento" pitchFamily="34" charset="0"/>
                <a:ea typeface="Quattrocento" pitchFamily="34" charset="-122"/>
                <a:cs typeface="Quattrocento" pitchFamily="34" charset="-120"/>
              </a:rPr>
              <a:t>$75,191</a:t>
            </a:r>
            <a:endParaRPr lang="en-US" sz="5400" dirty="0"/>
          </a:p>
        </p:txBody>
      </p:sp>
      <p:sp>
        <p:nvSpPr>
          <p:cNvPr id="8" name="Text 6"/>
          <p:cNvSpPr/>
          <p:nvPr/>
        </p:nvSpPr>
        <p:spPr>
          <a:xfrm>
            <a:off x="4430911" y="4051935"/>
            <a:ext cx="2464118" cy="308015"/>
          </a:xfrm>
          <a:prstGeom prst="rect">
            <a:avLst/>
          </a:prstGeom>
          <a:noFill/>
          <a:ln/>
        </p:spPr>
        <p:txBody>
          <a:bodyPr wrap="none" lIns="0" tIns="0" rIns="0" bIns="0" rtlCol="0" anchor="t"/>
          <a:lstStyle/>
          <a:p>
            <a:pPr algn="ctr" indent="0" marL="0">
              <a:lnSpc>
                <a:spcPts val="2400"/>
              </a:lnSpc>
              <a:buNone/>
            </a:pPr>
            <a:r>
              <a:rPr lang="en-US" sz="1900" dirty="0">
                <a:solidFill>
                  <a:srgbClr val="F9EEE7"/>
                </a:solidFill>
                <a:latin typeface="Quattrocento" pitchFamily="34" charset="0"/>
                <a:ea typeface="Quattrocento" pitchFamily="34" charset="-122"/>
                <a:cs typeface="Quattrocento" pitchFamily="34" charset="-120"/>
              </a:rPr>
              <a:t>Female Revenue</a:t>
            </a:r>
            <a:endParaRPr lang="en-US" sz="1900" dirty="0"/>
          </a:p>
        </p:txBody>
      </p:sp>
      <p:sp>
        <p:nvSpPr>
          <p:cNvPr id="9" name="Text 7"/>
          <p:cNvSpPr/>
          <p:nvPr/>
        </p:nvSpPr>
        <p:spPr>
          <a:xfrm>
            <a:off x="4141827" y="4485561"/>
            <a:ext cx="3042404" cy="670084"/>
          </a:xfrm>
          <a:prstGeom prst="rect">
            <a:avLst/>
          </a:prstGeom>
          <a:noFill/>
          <a:ln/>
        </p:spPr>
        <p:txBody>
          <a:bodyPr wrap="square" lIns="0" tIns="0" rIns="0" bIns="0" rtlCol="0" anchor="t"/>
          <a:lstStyle/>
          <a:p>
            <a:pPr algn="ctr" indent="0" marL="0">
              <a:lnSpc>
                <a:spcPts val="2600"/>
              </a:lnSpc>
              <a:buNone/>
            </a:pPr>
            <a:r>
              <a:rPr lang="en-US" sz="1600" dirty="0">
                <a:solidFill>
                  <a:srgbClr val="F9EEE7"/>
                </a:solidFill>
                <a:latin typeface="Quattrocento" pitchFamily="34" charset="0"/>
                <a:ea typeface="Quattrocento" pitchFamily="34" charset="-122"/>
                <a:cs typeface="Quattrocento" pitchFamily="34" charset="-120"/>
              </a:rPr>
              <a:t>Total revenue generated by female customers.</a:t>
            </a:r>
            <a:endParaRPr lang="en-US" sz="1600" dirty="0"/>
          </a:p>
        </p:txBody>
      </p:sp>
      <p:sp>
        <p:nvSpPr>
          <p:cNvPr id="10" name="Text 8"/>
          <p:cNvSpPr/>
          <p:nvPr/>
        </p:nvSpPr>
        <p:spPr>
          <a:xfrm>
            <a:off x="7446050" y="3099078"/>
            <a:ext cx="3042404" cy="691158"/>
          </a:xfrm>
          <a:prstGeom prst="rect">
            <a:avLst/>
          </a:prstGeom>
          <a:noFill/>
          <a:ln/>
        </p:spPr>
        <p:txBody>
          <a:bodyPr wrap="none" lIns="0" tIns="0" rIns="0" bIns="0" rtlCol="0" anchor="t"/>
          <a:lstStyle/>
          <a:p>
            <a:pPr algn="ctr" indent="0" marL="0">
              <a:lnSpc>
                <a:spcPts val="5400"/>
              </a:lnSpc>
              <a:buNone/>
            </a:pPr>
            <a:r>
              <a:rPr lang="en-US" sz="5400" dirty="0">
                <a:solidFill>
                  <a:srgbClr val="F9EEE7"/>
                </a:solidFill>
                <a:latin typeface="Quattrocento" pitchFamily="34" charset="0"/>
                <a:ea typeface="Quattrocento" pitchFamily="34" charset="-122"/>
                <a:cs typeface="Quattrocento" pitchFamily="34" charset="-120"/>
              </a:rPr>
              <a:t>58</a:t>
            </a:r>
            <a:endParaRPr lang="en-US" sz="5400" dirty="0"/>
          </a:p>
        </p:txBody>
      </p:sp>
      <p:sp>
        <p:nvSpPr>
          <p:cNvPr id="11" name="Text 9"/>
          <p:cNvSpPr/>
          <p:nvPr/>
        </p:nvSpPr>
        <p:spPr>
          <a:xfrm>
            <a:off x="7446050" y="4051935"/>
            <a:ext cx="3042404" cy="616029"/>
          </a:xfrm>
          <a:prstGeom prst="rect">
            <a:avLst/>
          </a:prstGeom>
          <a:noFill/>
          <a:ln/>
        </p:spPr>
        <p:txBody>
          <a:bodyPr wrap="square" lIns="0" tIns="0" rIns="0" bIns="0" rtlCol="0" anchor="t"/>
          <a:lstStyle/>
          <a:p>
            <a:pPr algn="ctr" indent="0" marL="0">
              <a:lnSpc>
                <a:spcPts val="2400"/>
              </a:lnSpc>
              <a:buNone/>
            </a:pPr>
            <a:r>
              <a:rPr lang="en-US" sz="1900" dirty="0">
                <a:solidFill>
                  <a:srgbClr val="F9EEE7"/>
                </a:solidFill>
                <a:latin typeface="Quattrocento" pitchFamily="34" charset="0"/>
                <a:ea typeface="Quattrocento" pitchFamily="34" charset="-122"/>
                <a:cs typeface="Quattrocento" pitchFamily="34" charset="-120"/>
              </a:rPr>
              <a:t>Standard Shipping Avg. Spend</a:t>
            </a:r>
            <a:endParaRPr lang="en-US" sz="1900" dirty="0"/>
          </a:p>
        </p:txBody>
      </p:sp>
      <p:sp>
        <p:nvSpPr>
          <p:cNvPr id="12" name="Text 10"/>
          <p:cNvSpPr/>
          <p:nvPr/>
        </p:nvSpPr>
        <p:spPr>
          <a:xfrm>
            <a:off x="7446050" y="4793575"/>
            <a:ext cx="3042404" cy="670084"/>
          </a:xfrm>
          <a:prstGeom prst="rect">
            <a:avLst/>
          </a:prstGeom>
          <a:noFill/>
          <a:ln/>
        </p:spPr>
        <p:txBody>
          <a:bodyPr wrap="square" lIns="0" tIns="0" rIns="0" bIns="0" rtlCol="0" anchor="t"/>
          <a:lstStyle/>
          <a:p>
            <a:pPr algn="ctr" indent="0" marL="0">
              <a:lnSpc>
                <a:spcPts val="2600"/>
              </a:lnSpc>
              <a:buNone/>
            </a:pPr>
            <a:r>
              <a:rPr lang="en-US" sz="1600" dirty="0">
                <a:solidFill>
                  <a:srgbClr val="F9EEE7"/>
                </a:solidFill>
                <a:latin typeface="Quattrocento" pitchFamily="34" charset="0"/>
                <a:ea typeface="Quattrocento" pitchFamily="34" charset="-122"/>
                <a:cs typeface="Quattrocento" pitchFamily="34" charset="-120"/>
              </a:rPr>
              <a:t>Average purchase amount for Standard shipping users.</a:t>
            </a:r>
            <a:endParaRPr lang="en-US" sz="1600" dirty="0"/>
          </a:p>
        </p:txBody>
      </p:sp>
      <p:sp>
        <p:nvSpPr>
          <p:cNvPr id="13" name="Text 11"/>
          <p:cNvSpPr/>
          <p:nvPr/>
        </p:nvSpPr>
        <p:spPr>
          <a:xfrm>
            <a:off x="10750272" y="3099078"/>
            <a:ext cx="3042404" cy="691158"/>
          </a:xfrm>
          <a:prstGeom prst="rect">
            <a:avLst/>
          </a:prstGeom>
          <a:noFill/>
          <a:ln/>
        </p:spPr>
        <p:txBody>
          <a:bodyPr wrap="none" lIns="0" tIns="0" rIns="0" bIns="0" rtlCol="0" anchor="t"/>
          <a:lstStyle/>
          <a:p>
            <a:pPr algn="ctr" indent="0" marL="0">
              <a:lnSpc>
                <a:spcPts val="5400"/>
              </a:lnSpc>
              <a:buNone/>
            </a:pPr>
            <a:r>
              <a:rPr lang="en-US" sz="5400" dirty="0">
                <a:solidFill>
                  <a:srgbClr val="F9EEE7"/>
                </a:solidFill>
                <a:latin typeface="Quattrocento" pitchFamily="34" charset="0"/>
                <a:ea typeface="Quattrocento" pitchFamily="34" charset="-122"/>
                <a:cs typeface="Quattrocento" pitchFamily="34" charset="-120"/>
              </a:rPr>
              <a:t>60</a:t>
            </a:r>
            <a:endParaRPr lang="en-US" sz="5400" dirty="0"/>
          </a:p>
        </p:txBody>
      </p:sp>
      <p:sp>
        <p:nvSpPr>
          <p:cNvPr id="14" name="Text 12"/>
          <p:cNvSpPr/>
          <p:nvPr/>
        </p:nvSpPr>
        <p:spPr>
          <a:xfrm>
            <a:off x="10750272" y="4051935"/>
            <a:ext cx="3042404" cy="616029"/>
          </a:xfrm>
          <a:prstGeom prst="rect">
            <a:avLst/>
          </a:prstGeom>
          <a:noFill/>
          <a:ln/>
        </p:spPr>
        <p:txBody>
          <a:bodyPr wrap="square" lIns="0" tIns="0" rIns="0" bIns="0" rtlCol="0" anchor="t"/>
          <a:lstStyle/>
          <a:p>
            <a:pPr algn="ctr" indent="0" marL="0">
              <a:lnSpc>
                <a:spcPts val="2400"/>
              </a:lnSpc>
              <a:buNone/>
            </a:pPr>
            <a:r>
              <a:rPr lang="en-US" sz="1900" dirty="0">
                <a:solidFill>
                  <a:srgbClr val="F9EEE7"/>
                </a:solidFill>
                <a:latin typeface="Quattrocento" pitchFamily="34" charset="0"/>
                <a:ea typeface="Quattrocento" pitchFamily="34" charset="-122"/>
                <a:cs typeface="Quattrocento" pitchFamily="34" charset="-120"/>
              </a:rPr>
              <a:t>Express Shipping Avg. Spend</a:t>
            </a:r>
            <a:endParaRPr lang="en-US" sz="1900" dirty="0"/>
          </a:p>
        </p:txBody>
      </p:sp>
      <p:sp>
        <p:nvSpPr>
          <p:cNvPr id="15" name="Text 13"/>
          <p:cNvSpPr/>
          <p:nvPr/>
        </p:nvSpPr>
        <p:spPr>
          <a:xfrm>
            <a:off x="10750272" y="4793575"/>
            <a:ext cx="3042404" cy="670084"/>
          </a:xfrm>
          <a:prstGeom prst="rect">
            <a:avLst/>
          </a:prstGeom>
          <a:noFill/>
          <a:ln/>
        </p:spPr>
        <p:txBody>
          <a:bodyPr wrap="square" lIns="0" tIns="0" rIns="0" bIns="0" rtlCol="0" anchor="t"/>
          <a:lstStyle/>
          <a:p>
            <a:pPr algn="ctr" indent="0" marL="0">
              <a:lnSpc>
                <a:spcPts val="2600"/>
              </a:lnSpc>
              <a:buNone/>
            </a:pPr>
            <a:r>
              <a:rPr lang="en-US" sz="1600" dirty="0">
                <a:solidFill>
                  <a:srgbClr val="F9EEE7"/>
                </a:solidFill>
                <a:latin typeface="Quattrocento" pitchFamily="34" charset="0"/>
                <a:ea typeface="Quattrocento" pitchFamily="34" charset="-122"/>
                <a:cs typeface="Quattrocento" pitchFamily="34" charset="-120"/>
              </a:rPr>
              <a:t>Average purchase amount for Express shipping users.</a:t>
            </a:r>
            <a:endParaRPr lang="en-US" sz="1600" dirty="0"/>
          </a:p>
        </p:txBody>
      </p:sp>
      <p:sp>
        <p:nvSpPr>
          <p:cNvPr id="16" name="Text 14"/>
          <p:cNvSpPr/>
          <p:nvPr/>
        </p:nvSpPr>
        <p:spPr>
          <a:xfrm>
            <a:off x="1151811" y="5934908"/>
            <a:ext cx="12640866" cy="670084"/>
          </a:xfrm>
          <a:prstGeom prst="rect">
            <a:avLst/>
          </a:prstGeom>
          <a:noFill/>
          <a:ln/>
        </p:spPr>
        <p:txBody>
          <a:bodyPr wrap="square" lIns="0" tIns="0" rIns="0" bIns="0" rtlCol="0" anchor="t"/>
          <a:lstStyle/>
          <a:p>
            <a:pPr algn="l" indent="0" marL="0">
              <a:lnSpc>
                <a:spcPts val="2600"/>
              </a:lnSpc>
              <a:buNone/>
            </a:pPr>
            <a:r>
              <a:rPr lang="en-US" sz="1600" dirty="0">
                <a:solidFill>
                  <a:srgbClr val="F9EEE7"/>
                </a:solidFill>
                <a:latin typeface="Quattrocento" pitchFamily="34" charset="0"/>
                <a:ea typeface="Quattrocento" pitchFamily="34" charset="-122"/>
                <a:cs typeface="Quattrocento" pitchFamily="34" charset="-120"/>
              </a:rPr>
              <a:t>Male customers generate significantly higher total revenue, while Express shipping users show a slightly higher average purchase amount.</a:t>
            </a:r>
            <a:endParaRPr lang="en-US" sz="1600" dirty="0"/>
          </a:p>
        </p:txBody>
      </p:sp>
      <p:sp>
        <p:nvSpPr>
          <p:cNvPr id="17" name="Shape 15"/>
          <p:cNvSpPr/>
          <p:nvPr/>
        </p:nvSpPr>
        <p:spPr>
          <a:xfrm>
            <a:off x="837724" y="5699284"/>
            <a:ext cx="22860" cy="1141333"/>
          </a:xfrm>
          <a:prstGeom prst="rect">
            <a:avLst/>
          </a:prstGeom>
          <a:solidFill>
            <a:srgbClr val="EF9C82"/>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07125" y="714375"/>
            <a:ext cx="12171878" cy="593527"/>
          </a:xfrm>
          <a:prstGeom prst="rect">
            <a:avLst/>
          </a:prstGeom>
          <a:noFill/>
          <a:ln/>
        </p:spPr>
        <p:txBody>
          <a:bodyPr wrap="none" lIns="0" tIns="0" rIns="0" bIns="0" rtlCol="0" anchor="t"/>
          <a:lstStyle/>
          <a:p>
            <a:pPr algn="l" indent="0" marL="0">
              <a:lnSpc>
                <a:spcPts val="4650"/>
              </a:lnSpc>
              <a:buNone/>
            </a:pPr>
            <a:r>
              <a:rPr lang="en-US" sz="3700" dirty="0">
                <a:solidFill>
                  <a:srgbClr val="FFD9BE"/>
                </a:solidFill>
                <a:latin typeface="Quattrocento" pitchFamily="34" charset="0"/>
                <a:ea typeface="Quattrocento" pitchFamily="34" charset="-122"/>
                <a:cs typeface="Quattrocento" pitchFamily="34" charset="-120"/>
              </a:rPr>
              <a:t>Product Performance: Ratings and Discount Dependency</a:t>
            </a:r>
            <a:endParaRPr lang="en-US" sz="3700" dirty="0"/>
          </a:p>
        </p:txBody>
      </p:sp>
      <p:sp>
        <p:nvSpPr>
          <p:cNvPr id="3" name="Text 1"/>
          <p:cNvSpPr/>
          <p:nvPr/>
        </p:nvSpPr>
        <p:spPr>
          <a:xfrm>
            <a:off x="807125" y="1812250"/>
            <a:ext cx="5240655" cy="356116"/>
          </a:xfrm>
          <a:prstGeom prst="rect">
            <a:avLst/>
          </a:prstGeom>
          <a:noFill/>
          <a:ln/>
        </p:spPr>
        <p:txBody>
          <a:bodyPr wrap="none" lIns="0" tIns="0" rIns="0" bIns="0" rtlCol="0" anchor="t"/>
          <a:lstStyle/>
          <a:p>
            <a:pPr algn="l" indent="0" marL="0">
              <a:lnSpc>
                <a:spcPts val="2800"/>
              </a:lnSpc>
              <a:buNone/>
            </a:pPr>
            <a:r>
              <a:rPr lang="en-US" sz="2200" dirty="0">
                <a:solidFill>
                  <a:srgbClr val="FFD9BE"/>
                </a:solidFill>
                <a:latin typeface="Quattrocento" pitchFamily="34" charset="0"/>
                <a:ea typeface="Quattrocento" pitchFamily="34" charset="-122"/>
                <a:cs typeface="Quattrocento" pitchFamily="34" charset="-120"/>
              </a:rPr>
              <a:t>Top 5 Products by Average Review Rating</a:t>
            </a:r>
            <a:endParaRPr lang="en-US" sz="2200" dirty="0"/>
          </a:p>
        </p:txBody>
      </p:sp>
      <p:sp>
        <p:nvSpPr>
          <p:cNvPr id="4" name="Shape 2"/>
          <p:cNvSpPr/>
          <p:nvPr/>
        </p:nvSpPr>
        <p:spPr>
          <a:xfrm>
            <a:off x="807125" y="2395299"/>
            <a:ext cx="6261973" cy="3495675"/>
          </a:xfrm>
          <a:prstGeom prst="roundRect">
            <a:avLst>
              <a:gd name="adj" fmla="val 866"/>
            </a:avLst>
          </a:prstGeom>
          <a:noFill/>
          <a:ln w="7620">
            <a:solidFill>
              <a:srgbClr val="FFFFFF">
                <a:alpha val="24000"/>
              </a:srgbClr>
            </a:solidFill>
            <a:prstDash val="solid"/>
          </a:ln>
        </p:spPr>
      </p:sp>
      <p:sp>
        <p:nvSpPr>
          <p:cNvPr id="5" name="Shape 3"/>
          <p:cNvSpPr/>
          <p:nvPr/>
        </p:nvSpPr>
        <p:spPr>
          <a:xfrm>
            <a:off x="814745" y="2402919"/>
            <a:ext cx="6246733" cy="580073"/>
          </a:xfrm>
          <a:prstGeom prst="rect">
            <a:avLst/>
          </a:prstGeom>
          <a:solidFill>
            <a:srgbClr val="FFFFFF">
              <a:alpha val="4000"/>
            </a:srgbClr>
          </a:solidFill>
          <a:ln/>
        </p:spPr>
      </p:sp>
      <p:sp>
        <p:nvSpPr>
          <p:cNvPr id="6" name="Text 4"/>
          <p:cNvSpPr/>
          <p:nvPr/>
        </p:nvSpPr>
        <p:spPr>
          <a:xfrm>
            <a:off x="1016556" y="2531507"/>
            <a:ext cx="3340775"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Item Purchased</a:t>
            </a:r>
            <a:endParaRPr lang="en-US" sz="1550" dirty="0"/>
          </a:p>
        </p:txBody>
      </p:sp>
      <p:sp>
        <p:nvSpPr>
          <p:cNvPr id="7" name="Text 5"/>
          <p:cNvSpPr/>
          <p:nvPr/>
        </p:nvSpPr>
        <p:spPr>
          <a:xfrm>
            <a:off x="4768334" y="2531507"/>
            <a:ext cx="2091452"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Avg. Review Rating</a:t>
            </a:r>
            <a:endParaRPr lang="en-US" sz="1550" dirty="0"/>
          </a:p>
        </p:txBody>
      </p:sp>
      <p:sp>
        <p:nvSpPr>
          <p:cNvPr id="8" name="Shape 6"/>
          <p:cNvSpPr/>
          <p:nvPr/>
        </p:nvSpPr>
        <p:spPr>
          <a:xfrm>
            <a:off x="814745" y="2982992"/>
            <a:ext cx="6246733" cy="580073"/>
          </a:xfrm>
          <a:prstGeom prst="rect">
            <a:avLst/>
          </a:prstGeom>
          <a:solidFill>
            <a:srgbClr val="000000">
              <a:alpha val="4000"/>
            </a:srgbClr>
          </a:solidFill>
          <a:ln/>
        </p:spPr>
      </p:sp>
      <p:sp>
        <p:nvSpPr>
          <p:cNvPr id="9" name="Text 7"/>
          <p:cNvSpPr/>
          <p:nvPr/>
        </p:nvSpPr>
        <p:spPr>
          <a:xfrm>
            <a:off x="1016556" y="3111579"/>
            <a:ext cx="3340775"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Gloves</a:t>
            </a:r>
            <a:endParaRPr lang="en-US" sz="1550" dirty="0"/>
          </a:p>
        </p:txBody>
      </p:sp>
      <p:sp>
        <p:nvSpPr>
          <p:cNvPr id="10" name="Text 8"/>
          <p:cNvSpPr/>
          <p:nvPr/>
        </p:nvSpPr>
        <p:spPr>
          <a:xfrm>
            <a:off x="4768334" y="3111579"/>
            <a:ext cx="2091452"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3.86</a:t>
            </a:r>
            <a:endParaRPr lang="en-US" sz="1550" dirty="0"/>
          </a:p>
        </p:txBody>
      </p:sp>
      <p:sp>
        <p:nvSpPr>
          <p:cNvPr id="11" name="Shape 9"/>
          <p:cNvSpPr/>
          <p:nvPr/>
        </p:nvSpPr>
        <p:spPr>
          <a:xfrm>
            <a:off x="814745" y="3563064"/>
            <a:ext cx="6246733" cy="580073"/>
          </a:xfrm>
          <a:prstGeom prst="rect">
            <a:avLst/>
          </a:prstGeom>
          <a:solidFill>
            <a:srgbClr val="FFFFFF">
              <a:alpha val="4000"/>
            </a:srgbClr>
          </a:solidFill>
          <a:ln/>
        </p:spPr>
      </p:sp>
      <p:sp>
        <p:nvSpPr>
          <p:cNvPr id="12" name="Text 10"/>
          <p:cNvSpPr/>
          <p:nvPr/>
        </p:nvSpPr>
        <p:spPr>
          <a:xfrm>
            <a:off x="1016556" y="3691652"/>
            <a:ext cx="3340775"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Sandals</a:t>
            </a:r>
            <a:endParaRPr lang="en-US" sz="1550" dirty="0"/>
          </a:p>
        </p:txBody>
      </p:sp>
      <p:sp>
        <p:nvSpPr>
          <p:cNvPr id="13" name="Text 11"/>
          <p:cNvSpPr/>
          <p:nvPr/>
        </p:nvSpPr>
        <p:spPr>
          <a:xfrm>
            <a:off x="4768334" y="3691652"/>
            <a:ext cx="2091452"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3.84</a:t>
            </a:r>
            <a:endParaRPr lang="en-US" sz="1550" dirty="0"/>
          </a:p>
        </p:txBody>
      </p:sp>
      <p:sp>
        <p:nvSpPr>
          <p:cNvPr id="14" name="Shape 12"/>
          <p:cNvSpPr/>
          <p:nvPr/>
        </p:nvSpPr>
        <p:spPr>
          <a:xfrm>
            <a:off x="814745" y="4143137"/>
            <a:ext cx="6246733" cy="580073"/>
          </a:xfrm>
          <a:prstGeom prst="rect">
            <a:avLst/>
          </a:prstGeom>
          <a:solidFill>
            <a:srgbClr val="000000">
              <a:alpha val="4000"/>
            </a:srgbClr>
          </a:solidFill>
          <a:ln/>
        </p:spPr>
      </p:sp>
      <p:sp>
        <p:nvSpPr>
          <p:cNvPr id="15" name="Text 13"/>
          <p:cNvSpPr/>
          <p:nvPr/>
        </p:nvSpPr>
        <p:spPr>
          <a:xfrm>
            <a:off x="1016556" y="4271724"/>
            <a:ext cx="3340775"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Boots</a:t>
            </a:r>
            <a:endParaRPr lang="en-US" sz="1550" dirty="0"/>
          </a:p>
        </p:txBody>
      </p:sp>
      <p:sp>
        <p:nvSpPr>
          <p:cNvPr id="16" name="Text 14"/>
          <p:cNvSpPr/>
          <p:nvPr/>
        </p:nvSpPr>
        <p:spPr>
          <a:xfrm>
            <a:off x="4768334" y="4271724"/>
            <a:ext cx="2091452"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3.82</a:t>
            </a:r>
            <a:endParaRPr lang="en-US" sz="1550" dirty="0"/>
          </a:p>
        </p:txBody>
      </p:sp>
      <p:sp>
        <p:nvSpPr>
          <p:cNvPr id="17" name="Shape 15"/>
          <p:cNvSpPr/>
          <p:nvPr/>
        </p:nvSpPr>
        <p:spPr>
          <a:xfrm>
            <a:off x="814745" y="4723209"/>
            <a:ext cx="6246733" cy="580073"/>
          </a:xfrm>
          <a:prstGeom prst="rect">
            <a:avLst/>
          </a:prstGeom>
          <a:solidFill>
            <a:srgbClr val="FFFFFF">
              <a:alpha val="4000"/>
            </a:srgbClr>
          </a:solidFill>
          <a:ln/>
        </p:spPr>
      </p:sp>
      <p:sp>
        <p:nvSpPr>
          <p:cNvPr id="18" name="Text 16"/>
          <p:cNvSpPr/>
          <p:nvPr/>
        </p:nvSpPr>
        <p:spPr>
          <a:xfrm>
            <a:off x="1016556" y="4851797"/>
            <a:ext cx="3340775"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Hat</a:t>
            </a:r>
            <a:endParaRPr lang="en-US" sz="1550" dirty="0"/>
          </a:p>
        </p:txBody>
      </p:sp>
      <p:sp>
        <p:nvSpPr>
          <p:cNvPr id="19" name="Text 17"/>
          <p:cNvSpPr/>
          <p:nvPr/>
        </p:nvSpPr>
        <p:spPr>
          <a:xfrm>
            <a:off x="4768334" y="4851797"/>
            <a:ext cx="2091452"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3.80</a:t>
            </a:r>
            <a:endParaRPr lang="en-US" sz="1550" dirty="0"/>
          </a:p>
        </p:txBody>
      </p:sp>
      <p:sp>
        <p:nvSpPr>
          <p:cNvPr id="20" name="Shape 18"/>
          <p:cNvSpPr/>
          <p:nvPr/>
        </p:nvSpPr>
        <p:spPr>
          <a:xfrm>
            <a:off x="814745" y="5303282"/>
            <a:ext cx="6246733" cy="580073"/>
          </a:xfrm>
          <a:prstGeom prst="rect">
            <a:avLst/>
          </a:prstGeom>
          <a:solidFill>
            <a:srgbClr val="000000">
              <a:alpha val="4000"/>
            </a:srgbClr>
          </a:solidFill>
          <a:ln/>
        </p:spPr>
      </p:sp>
      <p:sp>
        <p:nvSpPr>
          <p:cNvPr id="21" name="Text 19"/>
          <p:cNvSpPr/>
          <p:nvPr/>
        </p:nvSpPr>
        <p:spPr>
          <a:xfrm>
            <a:off x="1016556" y="5431869"/>
            <a:ext cx="3340775"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Skirt</a:t>
            </a:r>
            <a:endParaRPr lang="en-US" sz="1550" dirty="0"/>
          </a:p>
        </p:txBody>
      </p:sp>
      <p:sp>
        <p:nvSpPr>
          <p:cNvPr id="22" name="Text 20"/>
          <p:cNvSpPr/>
          <p:nvPr/>
        </p:nvSpPr>
        <p:spPr>
          <a:xfrm>
            <a:off x="4768334" y="5431869"/>
            <a:ext cx="2091452"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3.79</a:t>
            </a:r>
            <a:endParaRPr lang="en-US" sz="1550" dirty="0"/>
          </a:p>
        </p:txBody>
      </p:sp>
      <p:sp>
        <p:nvSpPr>
          <p:cNvPr id="23" name="Text 21"/>
          <p:cNvSpPr/>
          <p:nvPr/>
        </p:nvSpPr>
        <p:spPr>
          <a:xfrm>
            <a:off x="7568922" y="1812250"/>
            <a:ext cx="4706660" cy="356116"/>
          </a:xfrm>
          <a:prstGeom prst="rect">
            <a:avLst/>
          </a:prstGeom>
          <a:noFill/>
          <a:ln/>
        </p:spPr>
        <p:txBody>
          <a:bodyPr wrap="none" lIns="0" tIns="0" rIns="0" bIns="0" rtlCol="0" anchor="t"/>
          <a:lstStyle/>
          <a:p>
            <a:pPr algn="l" indent="0" marL="0">
              <a:lnSpc>
                <a:spcPts val="2800"/>
              </a:lnSpc>
              <a:buNone/>
            </a:pPr>
            <a:r>
              <a:rPr lang="en-US" sz="2200" dirty="0">
                <a:solidFill>
                  <a:srgbClr val="FFD9BE"/>
                </a:solidFill>
                <a:latin typeface="Quattrocento" pitchFamily="34" charset="0"/>
                <a:ea typeface="Quattrocento" pitchFamily="34" charset="-122"/>
                <a:cs typeface="Quattrocento" pitchFamily="34" charset="-120"/>
              </a:rPr>
              <a:t>Top 5 Discount-Dependent Products</a:t>
            </a:r>
            <a:endParaRPr lang="en-US" sz="2200" dirty="0"/>
          </a:p>
        </p:txBody>
      </p:sp>
      <p:sp>
        <p:nvSpPr>
          <p:cNvPr id="24" name="Text 22"/>
          <p:cNvSpPr/>
          <p:nvPr/>
        </p:nvSpPr>
        <p:spPr>
          <a:xfrm>
            <a:off x="7568922" y="2370058"/>
            <a:ext cx="6261973" cy="645795"/>
          </a:xfrm>
          <a:prstGeom prst="rect">
            <a:avLst/>
          </a:prstGeom>
          <a:noFill/>
          <a:ln/>
        </p:spPr>
        <p:txBody>
          <a:bodyPr wrap="squar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Products with the highest percentage of purchases made with a discount applied.</a:t>
            </a:r>
            <a:endParaRPr lang="en-US" sz="1550" dirty="0"/>
          </a:p>
        </p:txBody>
      </p:sp>
      <p:sp>
        <p:nvSpPr>
          <p:cNvPr id="25" name="Shape 23"/>
          <p:cNvSpPr/>
          <p:nvPr/>
        </p:nvSpPr>
        <p:spPr>
          <a:xfrm>
            <a:off x="7568922" y="3242786"/>
            <a:ext cx="6261973" cy="3495675"/>
          </a:xfrm>
          <a:prstGeom prst="roundRect">
            <a:avLst>
              <a:gd name="adj" fmla="val 866"/>
            </a:avLst>
          </a:prstGeom>
          <a:noFill/>
          <a:ln w="7620">
            <a:solidFill>
              <a:srgbClr val="FFFFFF">
                <a:alpha val="24000"/>
              </a:srgbClr>
            </a:solidFill>
            <a:prstDash val="solid"/>
          </a:ln>
        </p:spPr>
      </p:sp>
      <p:sp>
        <p:nvSpPr>
          <p:cNvPr id="26" name="Shape 24"/>
          <p:cNvSpPr/>
          <p:nvPr/>
        </p:nvSpPr>
        <p:spPr>
          <a:xfrm>
            <a:off x="7576542" y="3250406"/>
            <a:ext cx="6246733" cy="580073"/>
          </a:xfrm>
          <a:prstGeom prst="rect">
            <a:avLst/>
          </a:prstGeom>
          <a:solidFill>
            <a:srgbClr val="FFFFFF">
              <a:alpha val="4000"/>
            </a:srgbClr>
          </a:solidFill>
          <a:ln/>
        </p:spPr>
      </p:sp>
      <p:sp>
        <p:nvSpPr>
          <p:cNvPr id="27" name="Text 25"/>
          <p:cNvSpPr/>
          <p:nvPr/>
        </p:nvSpPr>
        <p:spPr>
          <a:xfrm>
            <a:off x="7778353" y="3378994"/>
            <a:ext cx="3340775"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Item Purchased</a:t>
            </a:r>
            <a:endParaRPr lang="en-US" sz="1550" dirty="0"/>
          </a:p>
        </p:txBody>
      </p:sp>
      <p:sp>
        <p:nvSpPr>
          <p:cNvPr id="28" name="Text 26"/>
          <p:cNvSpPr/>
          <p:nvPr/>
        </p:nvSpPr>
        <p:spPr>
          <a:xfrm>
            <a:off x="11530132" y="3378994"/>
            <a:ext cx="2091452"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Discount Rate (%)</a:t>
            </a:r>
            <a:endParaRPr lang="en-US" sz="1550" dirty="0"/>
          </a:p>
        </p:txBody>
      </p:sp>
      <p:sp>
        <p:nvSpPr>
          <p:cNvPr id="29" name="Shape 27"/>
          <p:cNvSpPr/>
          <p:nvPr/>
        </p:nvSpPr>
        <p:spPr>
          <a:xfrm>
            <a:off x="7576542" y="3830479"/>
            <a:ext cx="6246733" cy="580073"/>
          </a:xfrm>
          <a:prstGeom prst="rect">
            <a:avLst/>
          </a:prstGeom>
          <a:solidFill>
            <a:srgbClr val="000000">
              <a:alpha val="4000"/>
            </a:srgbClr>
          </a:solidFill>
          <a:ln/>
        </p:spPr>
      </p:sp>
      <p:sp>
        <p:nvSpPr>
          <p:cNvPr id="30" name="Text 28"/>
          <p:cNvSpPr/>
          <p:nvPr/>
        </p:nvSpPr>
        <p:spPr>
          <a:xfrm>
            <a:off x="7778353" y="3959066"/>
            <a:ext cx="3340775"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Hat</a:t>
            </a:r>
            <a:endParaRPr lang="en-US" sz="1550" dirty="0"/>
          </a:p>
        </p:txBody>
      </p:sp>
      <p:sp>
        <p:nvSpPr>
          <p:cNvPr id="31" name="Text 29"/>
          <p:cNvSpPr/>
          <p:nvPr/>
        </p:nvSpPr>
        <p:spPr>
          <a:xfrm>
            <a:off x="11530132" y="3959066"/>
            <a:ext cx="2091452"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50</a:t>
            </a:r>
            <a:endParaRPr lang="en-US" sz="1550" dirty="0"/>
          </a:p>
        </p:txBody>
      </p:sp>
      <p:sp>
        <p:nvSpPr>
          <p:cNvPr id="32" name="Shape 30"/>
          <p:cNvSpPr/>
          <p:nvPr/>
        </p:nvSpPr>
        <p:spPr>
          <a:xfrm>
            <a:off x="7576542" y="4410551"/>
            <a:ext cx="6246733" cy="580073"/>
          </a:xfrm>
          <a:prstGeom prst="rect">
            <a:avLst/>
          </a:prstGeom>
          <a:solidFill>
            <a:srgbClr val="FFFFFF">
              <a:alpha val="4000"/>
            </a:srgbClr>
          </a:solidFill>
          <a:ln/>
        </p:spPr>
      </p:sp>
      <p:sp>
        <p:nvSpPr>
          <p:cNvPr id="33" name="Text 31"/>
          <p:cNvSpPr/>
          <p:nvPr/>
        </p:nvSpPr>
        <p:spPr>
          <a:xfrm>
            <a:off x="7778353" y="4539139"/>
            <a:ext cx="3340775"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Coat</a:t>
            </a:r>
            <a:endParaRPr lang="en-US" sz="1550" dirty="0"/>
          </a:p>
        </p:txBody>
      </p:sp>
      <p:sp>
        <p:nvSpPr>
          <p:cNvPr id="34" name="Text 32"/>
          <p:cNvSpPr/>
          <p:nvPr/>
        </p:nvSpPr>
        <p:spPr>
          <a:xfrm>
            <a:off x="11530132" y="4539139"/>
            <a:ext cx="2091452"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49</a:t>
            </a:r>
            <a:endParaRPr lang="en-US" sz="1550" dirty="0"/>
          </a:p>
        </p:txBody>
      </p:sp>
      <p:sp>
        <p:nvSpPr>
          <p:cNvPr id="35" name="Shape 33"/>
          <p:cNvSpPr/>
          <p:nvPr/>
        </p:nvSpPr>
        <p:spPr>
          <a:xfrm>
            <a:off x="7576542" y="4990624"/>
            <a:ext cx="6246733" cy="580073"/>
          </a:xfrm>
          <a:prstGeom prst="rect">
            <a:avLst/>
          </a:prstGeom>
          <a:solidFill>
            <a:srgbClr val="000000">
              <a:alpha val="4000"/>
            </a:srgbClr>
          </a:solidFill>
          <a:ln/>
        </p:spPr>
      </p:sp>
      <p:sp>
        <p:nvSpPr>
          <p:cNvPr id="36" name="Text 34"/>
          <p:cNvSpPr/>
          <p:nvPr/>
        </p:nvSpPr>
        <p:spPr>
          <a:xfrm>
            <a:off x="7778353" y="5119211"/>
            <a:ext cx="3340775"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Sneakers</a:t>
            </a:r>
            <a:endParaRPr lang="en-US" sz="1550" dirty="0"/>
          </a:p>
        </p:txBody>
      </p:sp>
      <p:sp>
        <p:nvSpPr>
          <p:cNvPr id="37" name="Text 35"/>
          <p:cNvSpPr/>
          <p:nvPr/>
        </p:nvSpPr>
        <p:spPr>
          <a:xfrm>
            <a:off x="11530132" y="5119211"/>
            <a:ext cx="2091452"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49</a:t>
            </a:r>
            <a:endParaRPr lang="en-US" sz="1550" dirty="0"/>
          </a:p>
        </p:txBody>
      </p:sp>
      <p:sp>
        <p:nvSpPr>
          <p:cNvPr id="38" name="Shape 36"/>
          <p:cNvSpPr/>
          <p:nvPr/>
        </p:nvSpPr>
        <p:spPr>
          <a:xfrm>
            <a:off x="7576542" y="5570696"/>
            <a:ext cx="6246733" cy="580073"/>
          </a:xfrm>
          <a:prstGeom prst="rect">
            <a:avLst/>
          </a:prstGeom>
          <a:solidFill>
            <a:srgbClr val="FFFFFF">
              <a:alpha val="4000"/>
            </a:srgbClr>
          </a:solidFill>
          <a:ln/>
        </p:spPr>
      </p:sp>
      <p:sp>
        <p:nvSpPr>
          <p:cNvPr id="39" name="Text 37"/>
          <p:cNvSpPr/>
          <p:nvPr/>
        </p:nvSpPr>
        <p:spPr>
          <a:xfrm>
            <a:off x="7778353" y="5699284"/>
            <a:ext cx="3340775"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Sweater</a:t>
            </a:r>
            <a:endParaRPr lang="en-US" sz="1550" dirty="0"/>
          </a:p>
        </p:txBody>
      </p:sp>
      <p:sp>
        <p:nvSpPr>
          <p:cNvPr id="40" name="Text 38"/>
          <p:cNvSpPr/>
          <p:nvPr/>
        </p:nvSpPr>
        <p:spPr>
          <a:xfrm>
            <a:off x="11530132" y="5699284"/>
            <a:ext cx="2091452"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48</a:t>
            </a:r>
            <a:endParaRPr lang="en-US" sz="1550" dirty="0"/>
          </a:p>
        </p:txBody>
      </p:sp>
      <p:sp>
        <p:nvSpPr>
          <p:cNvPr id="41" name="Shape 39"/>
          <p:cNvSpPr/>
          <p:nvPr/>
        </p:nvSpPr>
        <p:spPr>
          <a:xfrm>
            <a:off x="7576542" y="6150769"/>
            <a:ext cx="6246733" cy="580073"/>
          </a:xfrm>
          <a:prstGeom prst="rect">
            <a:avLst/>
          </a:prstGeom>
          <a:solidFill>
            <a:srgbClr val="000000">
              <a:alpha val="4000"/>
            </a:srgbClr>
          </a:solidFill>
          <a:ln/>
        </p:spPr>
      </p:sp>
      <p:sp>
        <p:nvSpPr>
          <p:cNvPr id="42" name="Text 40"/>
          <p:cNvSpPr/>
          <p:nvPr/>
        </p:nvSpPr>
        <p:spPr>
          <a:xfrm>
            <a:off x="7778353" y="6279356"/>
            <a:ext cx="3340775"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Pants</a:t>
            </a:r>
            <a:endParaRPr lang="en-US" sz="1550" dirty="0"/>
          </a:p>
        </p:txBody>
      </p:sp>
      <p:sp>
        <p:nvSpPr>
          <p:cNvPr id="43" name="Text 41"/>
          <p:cNvSpPr/>
          <p:nvPr/>
        </p:nvSpPr>
        <p:spPr>
          <a:xfrm>
            <a:off x="11530132" y="6279356"/>
            <a:ext cx="2091452"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47</a:t>
            </a:r>
            <a:endParaRPr lang="en-US" sz="1550" dirty="0"/>
          </a:p>
        </p:txBody>
      </p:sp>
      <p:sp>
        <p:nvSpPr>
          <p:cNvPr id="44" name="Text 42"/>
          <p:cNvSpPr/>
          <p:nvPr/>
        </p:nvSpPr>
        <p:spPr>
          <a:xfrm>
            <a:off x="807125" y="7192328"/>
            <a:ext cx="13016151" cy="322898"/>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Gloves, Sandals, and Boots are the highest-rated products. Notably, the </a:t>
            </a:r>
            <a:pPr algn="l" indent="0" marL="0">
              <a:lnSpc>
                <a:spcPts val="2500"/>
              </a:lnSpc>
              <a:buNone/>
            </a:pPr>
            <a:r>
              <a:rPr lang="en-US" sz="1550" dirty="0">
                <a:solidFill>
                  <a:srgbClr val="EF9C82"/>
                </a:solidFill>
                <a:latin typeface="Quattrocento" pitchFamily="34" charset="0"/>
                <a:ea typeface="Quattrocento" pitchFamily="34" charset="-122"/>
                <a:cs typeface="Quattrocento" pitchFamily="34" charset="-120"/>
              </a:rPr>
              <a:t>Hat</a:t>
            </a:r>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 is both a top-rated item and the most discount-dependent product.</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18862" y="287893"/>
            <a:ext cx="4631531" cy="308015"/>
          </a:xfrm>
          <a:prstGeom prst="rect">
            <a:avLst/>
          </a:prstGeom>
          <a:noFill/>
          <a:ln/>
        </p:spPr>
        <p:txBody>
          <a:bodyPr wrap="none" lIns="0" tIns="0" rIns="0" bIns="0" rtlCol="0" anchor="t"/>
          <a:lstStyle/>
          <a:p>
            <a:pPr algn="l" indent="0" marL="0">
              <a:lnSpc>
                <a:spcPts val="2400"/>
              </a:lnSpc>
              <a:buNone/>
            </a:pPr>
            <a:r>
              <a:rPr lang="en-US" sz="1900" dirty="0">
                <a:solidFill>
                  <a:srgbClr val="FFD9BE"/>
                </a:solidFill>
                <a:latin typeface="Quattrocento" pitchFamily="34" charset="0"/>
                <a:ea typeface="Quattrocento" pitchFamily="34" charset="-122"/>
                <a:cs typeface="Quattrocento" pitchFamily="34" charset="-120"/>
              </a:rPr>
              <a:t>Subscription Status and Customer Loyalty</a:t>
            </a:r>
            <a:endParaRPr lang="en-US" sz="1900" dirty="0"/>
          </a:p>
        </p:txBody>
      </p:sp>
      <p:sp>
        <p:nvSpPr>
          <p:cNvPr id="3" name="Text 1"/>
          <p:cNvSpPr/>
          <p:nvPr/>
        </p:nvSpPr>
        <p:spPr>
          <a:xfrm>
            <a:off x="418862" y="805339"/>
            <a:ext cx="13792676" cy="167640"/>
          </a:xfrm>
          <a:prstGeom prst="rect">
            <a:avLst/>
          </a:prstGeom>
          <a:noFill/>
          <a:ln/>
        </p:spPr>
        <p:txBody>
          <a:bodyPr wrap="none" lIns="0" tIns="0" rIns="0" bIns="0" rtlCol="0" anchor="t"/>
          <a:lstStyle/>
          <a:p>
            <a:pPr algn="l" indent="0" marL="0">
              <a:lnSpc>
                <a:spcPts val="1300"/>
              </a:lnSpc>
              <a:buNone/>
            </a:pPr>
            <a:r>
              <a:rPr lang="en-US" sz="800" dirty="0">
                <a:solidFill>
                  <a:srgbClr val="F9EEE7"/>
                </a:solidFill>
                <a:latin typeface="Quattrocento" pitchFamily="34" charset="0"/>
                <a:ea typeface="Quattrocento" pitchFamily="34" charset="-122"/>
                <a:cs typeface="Quattrocento" pitchFamily="34" charset="-120"/>
              </a:rPr>
              <a:t>Analyzing the impact of subscriptions and segmenting customers based on their purchase history.</a:t>
            </a:r>
            <a:endParaRPr lang="en-US" sz="800" dirty="0"/>
          </a:p>
        </p:txBody>
      </p:sp>
      <p:sp>
        <p:nvSpPr>
          <p:cNvPr id="4" name="Shape 2"/>
          <p:cNvSpPr/>
          <p:nvPr/>
        </p:nvSpPr>
        <p:spPr>
          <a:xfrm>
            <a:off x="418862" y="2145149"/>
            <a:ext cx="13792676" cy="15240"/>
          </a:xfrm>
          <a:prstGeom prst="roundRect">
            <a:avLst>
              <a:gd name="adj" fmla="val 103080"/>
            </a:avLst>
          </a:prstGeom>
          <a:solidFill>
            <a:srgbClr val="4A6B6A"/>
          </a:solidFill>
          <a:ln/>
        </p:spPr>
      </p:sp>
      <p:sp>
        <p:nvSpPr>
          <p:cNvPr id="5" name="Shape 3"/>
          <p:cNvSpPr/>
          <p:nvPr/>
        </p:nvSpPr>
        <p:spPr>
          <a:xfrm>
            <a:off x="418862" y="1090732"/>
            <a:ext cx="6830854" cy="1054418"/>
          </a:xfrm>
          <a:prstGeom prst="roundRect">
            <a:avLst>
              <a:gd name="adj" fmla="val 1490"/>
            </a:avLst>
          </a:prstGeom>
          <a:solidFill>
            <a:srgbClr val="315251"/>
          </a:solidFill>
          <a:ln/>
        </p:spPr>
      </p:sp>
      <p:sp>
        <p:nvSpPr>
          <p:cNvPr id="6" name="Text 4"/>
          <p:cNvSpPr/>
          <p:nvPr/>
        </p:nvSpPr>
        <p:spPr>
          <a:xfrm>
            <a:off x="3218259" y="1195388"/>
            <a:ext cx="1232059" cy="153948"/>
          </a:xfrm>
          <a:prstGeom prst="rect">
            <a:avLst/>
          </a:prstGeom>
          <a:noFill/>
          <a:ln/>
        </p:spPr>
        <p:txBody>
          <a:bodyPr wrap="none" lIns="0" tIns="0" rIns="0" bIns="0" rtlCol="0" anchor="t"/>
          <a:lstStyle/>
          <a:p>
            <a:pPr algn="ctr" indent="0" marL="0">
              <a:lnSpc>
                <a:spcPts val="1200"/>
              </a:lnSpc>
              <a:buNone/>
            </a:pPr>
            <a:r>
              <a:rPr lang="en-US" sz="950" dirty="0">
                <a:solidFill>
                  <a:srgbClr val="F9EEE7"/>
                </a:solidFill>
                <a:latin typeface="Quattrocento" pitchFamily="34" charset="0"/>
                <a:ea typeface="Quattrocento" pitchFamily="34" charset="-122"/>
                <a:cs typeface="Quattrocento" pitchFamily="34" charset="-120"/>
              </a:rPr>
              <a:t>Subscribers (Yes)</a:t>
            </a:r>
            <a:endParaRPr lang="en-US" sz="950" dirty="0"/>
          </a:p>
        </p:txBody>
      </p:sp>
      <p:sp>
        <p:nvSpPr>
          <p:cNvPr id="7" name="Text 5"/>
          <p:cNvSpPr/>
          <p:nvPr/>
        </p:nvSpPr>
        <p:spPr>
          <a:xfrm>
            <a:off x="523518" y="1412081"/>
            <a:ext cx="6621542" cy="167640"/>
          </a:xfrm>
          <a:prstGeom prst="rect">
            <a:avLst/>
          </a:prstGeom>
          <a:noFill/>
          <a:ln/>
        </p:spPr>
        <p:txBody>
          <a:bodyPr wrap="none" lIns="0" tIns="0" rIns="0" bIns="0" rtlCol="0" anchor="t"/>
          <a:lstStyle/>
          <a:p>
            <a:pPr algn="ctr" indent="0" marL="0">
              <a:lnSpc>
                <a:spcPts val="1300"/>
              </a:lnSpc>
              <a:buNone/>
            </a:pPr>
            <a:r>
              <a:rPr lang="en-US" sz="800" dirty="0">
                <a:solidFill>
                  <a:srgbClr val="F9EEE7"/>
                </a:solidFill>
                <a:latin typeface="Quattrocento" pitchFamily="34" charset="0"/>
                <a:ea typeface="Quattrocento" pitchFamily="34" charset="-122"/>
                <a:cs typeface="Quattrocento" pitchFamily="34" charset="-120"/>
              </a:rPr>
              <a:t>Total Customers: 1,053</a:t>
            </a:r>
            <a:endParaRPr lang="en-US" sz="800" dirty="0"/>
          </a:p>
        </p:txBody>
      </p:sp>
      <p:sp>
        <p:nvSpPr>
          <p:cNvPr id="8" name="Text 6"/>
          <p:cNvSpPr/>
          <p:nvPr/>
        </p:nvSpPr>
        <p:spPr>
          <a:xfrm>
            <a:off x="523518" y="1642467"/>
            <a:ext cx="6621542" cy="167640"/>
          </a:xfrm>
          <a:prstGeom prst="rect">
            <a:avLst/>
          </a:prstGeom>
          <a:noFill/>
          <a:ln/>
        </p:spPr>
        <p:txBody>
          <a:bodyPr wrap="none" lIns="0" tIns="0" rIns="0" bIns="0" rtlCol="0" anchor="t"/>
          <a:lstStyle/>
          <a:p>
            <a:pPr algn="ctr" indent="0" marL="0">
              <a:lnSpc>
                <a:spcPts val="1300"/>
              </a:lnSpc>
              <a:buNone/>
            </a:pPr>
            <a:r>
              <a:rPr lang="en-US" sz="800" dirty="0">
                <a:solidFill>
                  <a:srgbClr val="F9EEE7"/>
                </a:solidFill>
                <a:latin typeface="Quattrocento" pitchFamily="34" charset="0"/>
                <a:ea typeface="Quattrocento" pitchFamily="34" charset="-122"/>
                <a:cs typeface="Quattrocento" pitchFamily="34" charset="-120"/>
              </a:rPr>
              <a:t>Average Spend: $59</a:t>
            </a:r>
            <a:endParaRPr lang="en-US" sz="800" dirty="0"/>
          </a:p>
        </p:txBody>
      </p:sp>
      <p:sp>
        <p:nvSpPr>
          <p:cNvPr id="9" name="Text 7"/>
          <p:cNvSpPr/>
          <p:nvPr/>
        </p:nvSpPr>
        <p:spPr>
          <a:xfrm>
            <a:off x="523518" y="1872853"/>
            <a:ext cx="6621542" cy="167640"/>
          </a:xfrm>
          <a:prstGeom prst="rect">
            <a:avLst/>
          </a:prstGeom>
          <a:noFill/>
          <a:ln/>
        </p:spPr>
        <p:txBody>
          <a:bodyPr wrap="none" lIns="0" tIns="0" rIns="0" bIns="0" rtlCol="0" anchor="t"/>
          <a:lstStyle/>
          <a:p>
            <a:pPr algn="ctr" indent="0" marL="0">
              <a:lnSpc>
                <a:spcPts val="1300"/>
              </a:lnSpc>
              <a:buNone/>
            </a:pPr>
            <a:r>
              <a:rPr lang="en-US" sz="800" dirty="0">
                <a:solidFill>
                  <a:srgbClr val="F9EEE7"/>
                </a:solidFill>
                <a:latin typeface="Quattrocento" pitchFamily="34" charset="0"/>
                <a:ea typeface="Quattrocento" pitchFamily="34" charset="-122"/>
                <a:cs typeface="Quattrocento" pitchFamily="34" charset="-120"/>
              </a:rPr>
              <a:t>Total Revenue: $62,645</a:t>
            </a:r>
            <a:endParaRPr lang="en-US" sz="800" dirty="0"/>
          </a:p>
        </p:txBody>
      </p:sp>
      <p:sp>
        <p:nvSpPr>
          <p:cNvPr id="10" name="Shape 8"/>
          <p:cNvSpPr/>
          <p:nvPr/>
        </p:nvSpPr>
        <p:spPr>
          <a:xfrm>
            <a:off x="7380565" y="2160389"/>
            <a:ext cx="6830973" cy="1054418"/>
          </a:xfrm>
          <a:prstGeom prst="rect">
            <a:avLst/>
          </a:prstGeom>
          <a:solidFill>
            <a:srgbClr val="315251"/>
          </a:solidFill>
          <a:ln/>
        </p:spPr>
      </p:sp>
      <p:sp>
        <p:nvSpPr>
          <p:cNvPr id="11" name="Text 9"/>
          <p:cNvSpPr/>
          <p:nvPr/>
        </p:nvSpPr>
        <p:spPr>
          <a:xfrm>
            <a:off x="10179963" y="2265045"/>
            <a:ext cx="1232059" cy="153948"/>
          </a:xfrm>
          <a:prstGeom prst="rect">
            <a:avLst/>
          </a:prstGeom>
          <a:noFill/>
          <a:ln/>
        </p:spPr>
        <p:txBody>
          <a:bodyPr wrap="none" lIns="0" tIns="0" rIns="0" bIns="0" rtlCol="0" anchor="t"/>
          <a:lstStyle/>
          <a:p>
            <a:pPr algn="ctr" indent="0" marL="0">
              <a:lnSpc>
                <a:spcPts val="1200"/>
              </a:lnSpc>
              <a:buNone/>
            </a:pPr>
            <a:r>
              <a:rPr lang="en-US" sz="950" dirty="0">
                <a:solidFill>
                  <a:srgbClr val="F9EEE7"/>
                </a:solidFill>
                <a:latin typeface="Quattrocento" pitchFamily="34" charset="0"/>
                <a:ea typeface="Quattrocento" pitchFamily="34" charset="-122"/>
                <a:cs typeface="Quattrocento" pitchFamily="34" charset="-120"/>
              </a:rPr>
              <a:t>Non-Subscribers (No)</a:t>
            </a:r>
            <a:endParaRPr lang="en-US" sz="950" dirty="0"/>
          </a:p>
        </p:txBody>
      </p:sp>
      <p:sp>
        <p:nvSpPr>
          <p:cNvPr id="12" name="Text 10"/>
          <p:cNvSpPr/>
          <p:nvPr/>
        </p:nvSpPr>
        <p:spPr>
          <a:xfrm>
            <a:off x="7485221" y="2481739"/>
            <a:ext cx="6621661" cy="167640"/>
          </a:xfrm>
          <a:prstGeom prst="rect">
            <a:avLst/>
          </a:prstGeom>
          <a:noFill/>
          <a:ln/>
        </p:spPr>
        <p:txBody>
          <a:bodyPr wrap="none" lIns="0" tIns="0" rIns="0" bIns="0" rtlCol="0" anchor="t"/>
          <a:lstStyle/>
          <a:p>
            <a:pPr algn="ctr" indent="0" marL="0">
              <a:lnSpc>
                <a:spcPts val="1300"/>
              </a:lnSpc>
              <a:buNone/>
            </a:pPr>
            <a:r>
              <a:rPr lang="en-US" sz="800" dirty="0">
                <a:solidFill>
                  <a:srgbClr val="F9EEE7"/>
                </a:solidFill>
                <a:latin typeface="Quattrocento" pitchFamily="34" charset="0"/>
                <a:ea typeface="Quattrocento" pitchFamily="34" charset="-122"/>
                <a:cs typeface="Quattrocento" pitchFamily="34" charset="-120"/>
              </a:rPr>
              <a:t>Total Customers: 2,847</a:t>
            </a:r>
            <a:endParaRPr lang="en-US" sz="800" dirty="0"/>
          </a:p>
        </p:txBody>
      </p:sp>
      <p:sp>
        <p:nvSpPr>
          <p:cNvPr id="13" name="Text 11"/>
          <p:cNvSpPr/>
          <p:nvPr/>
        </p:nvSpPr>
        <p:spPr>
          <a:xfrm>
            <a:off x="7485221" y="2712125"/>
            <a:ext cx="6621661" cy="167640"/>
          </a:xfrm>
          <a:prstGeom prst="rect">
            <a:avLst/>
          </a:prstGeom>
          <a:noFill/>
          <a:ln/>
        </p:spPr>
        <p:txBody>
          <a:bodyPr wrap="none" lIns="0" tIns="0" rIns="0" bIns="0" rtlCol="0" anchor="t"/>
          <a:lstStyle/>
          <a:p>
            <a:pPr algn="ctr" indent="0" marL="0">
              <a:lnSpc>
                <a:spcPts val="1300"/>
              </a:lnSpc>
              <a:buNone/>
            </a:pPr>
            <a:r>
              <a:rPr lang="en-US" sz="800" dirty="0">
                <a:solidFill>
                  <a:srgbClr val="F9EEE7"/>
                </a:solidFill>
                <a:latin typeface="Quattrocento" pitchFamily="34" charset="0"/>
                <a:ea typeface="Quattrocento" pitchFamily="34" charset="-122"/>
                <a:cs typeface="Quattrocento" pitchFamily="34" charset="-120"/>
              </a:rPr>
              <a:t>Average Spend: $59</a:t>
            </a:r>
            <a:endParaRPr lang="en-US" sz="800" dirty="0"/>
          </a:p>
        </p:txBody>
      </p:sp>
      <p:sp>
        <p:nvSpPr>
          <p:cNvPr id="14" name="Text 12"/>
          <p:cNvSpPr/>
          <p:nvPr/>
        </p:nvSpPr>
        <p:spPr>
          <a:xfrm>
            <a:off x="7485221" y="2942511"/>
            <a:ext cx="6621661" cy="167640"/>
          </a:xfrm>
          <a:prstGeom prst="rect">
            <a:avLst/>
          </a:prstGeom>
          <a:noFill/>
          <a:ln/>
        </p:spPr>
        <p:txBody>
          <a:bodyPr wrap="none" lIns="0" tIns="0" rIns="0" bIns="0" rtlCol="0" anchor="t"/>
          <a:lstStyle/>
          <a:p>
            <a:pPr algn="ctr" indent="0" marL="0">
              <a:lnSpc>
                <a:spcPts val="1300"/>
              </a:lnSpc>
              <a:buNone/>
            </a:pPr>
            <a:r>
              <a:rPr lang="en-US" sz="800" dirty="0">
                <a:solidFill>
                  <a:srgbClr val="F9EEE7"/>
                </a:solidFill>
                <a:latin typeface="Quattrocento" pitchFamily="34" charset="0"/>
                <a:ea typeface="Quattrocento" pitchFamily="34" charset="-122"/>
                <a:cs typeface="Quattrocento" pitchFamily="34" charset="-120"/>
              </a:rPr>
              <a:t>Total Revenue: $170,436</a:t>
            </a:r>
            <a:endParaRPr lang="en-US" sz="800" dirty="0"/>
          </a:p>
        </p:txBody>
      </p:sp>
      <p:sp>
        <p:nvSpPr>
          <p:cNvPr id="15" name="Text 13"/>
          <p:cNvSpPr/>
          <p:nvPr/>
        </p:nvSpPr>
        <p:spPr>
          <a:xfrm>
            <a:off x="418862" y="3317319"/>
            <a:ext cx="13792676" cy="167640"/>
          </a:xfrm>
          <a:prstGeom prst="rect">
            <a:avLst/>
          </a:prstGeom>
          <a:noFill/>
          <a:ln/>
        </p:spPr>
        <p:txBody>
          <a:bodyPr wrap="none" lIns="0" tIns="0" rIns="0" bIns="0" rtlCol="0" anchor="t"/>
          <a:lstStyle/>
          <a:p>
            <a:pPr algn="l" indent="0" marL="0">
              <a:lnSpc>
                <a:spcPts val="1300"/>
              </a:lnSpc>
              <a:buNone/>
            </a:pPr>
            <a:r>
              <a:rPr lang="en-US" sz="800" dirty="0">
                <a:solidFill>
                  <a:srgbClr val="F9EEE7"/>
                </a:solidFill>
                <a:latin typeface="Quattrocento" pitchFamily="34" charset="0"/>
                <a:ea typeface="Quattrocento" pitchFamily="34" charset="-122"/>
                <a:cs typeface="Quattrocento" pitchFamily="34" charset="-120"/>
              </a:rPr>
              <a:t>While non-subscribers drive the majority of revenue due to volume, the average spend is identical across both groups.</a:t>
            </a:r>
            <a:endParaRPr lang="en-US" sz="800" dirty="0"/>
          </a:p>
        </p:txBody>
      </p:sp>
      <p:pic>
        <p:nvPicPr>
          <p:cNvPr id="16" name="Image 0" descr="preencoded.png">    </p:cNvPr>
          <p:cNvPicPr>
            <a:picLocks noChangeAspect="1"/>
          </p:cNvPicPr>
          <p:nvPr/>
        </p:nvPicPr>
        <p:blipFill>
          <a:blip r:embed="rId1"/>
          <a:stretch>
            <a:fillRect/>
          </a:stretch>
        </p:blipFill>
        <p:spPr>
          <a:xfrm>
            <a:off x="2142887" y="3602712"/>
            <a:ext cx="10344507" cy="6465213"/>
          </a:xfrm>
          <a:prstGeom prst="rect">
            <a:avLst/>
          </a:prstGeom>
        </p:spPr>
      </p:pic>
      <p:sp>
        <p:nvSpPr>
          <p:cNvPr id="17" name="Text 14"/>
          <p:cNvSpPr/>
          <p:nvPr/>
        </p:nvSpPr>
        <p:spPr>
          <a:xfrm>
            <a:off x="2751508" y="6652838"/>
            <a:ext cx="2920660" cy="364962"/>
          </a:xfrm>
          <a:prstGeom prst="rect">
            <a:avLst/>
          </a:prstGeom>
          <a:noFill/>
          <a:ln/>
        </p:spPr>
        <p:txBody>
          <a:bodyPr wrap="none" lIns="0" tIns="0" rIns="0" bIns="0" rtlCol="0" anchor="t"/>
          <a:lstStyle/>
          <a:p>
            <a:pPr algn="ctr" indent="0" marL="0">
              <a:lnSpc>
                <a:spcPts val="2100"/>
              </a:lnSpc>
              <a:buNone/>
            </a:pPr>
            <a:r>
              <a:rPr lang="en-US" sz="1650" dirty="0">
                <a:solidFill>
                  <a:srgbClr val="000000"/>
                </a:solidFill>
                <a:latin typeface="Quattrocento" pitchFamily="34" charset="0"/>
                <a:ea typeface="Quattrocento" pitchFamily="34" charset="-122"/>
                <a:cs typeface="Quattrocento" pitchFamily="34" charset="-120"/>
              </a:rPr>
              <a:t>Repeat Buyers</a:t>
            </a:r>
            <a:endParaRPr lang="en-US" sz="1650" dirty="0"/>
          </a:p>
        </p:txBody>
      </p:sp>
      <p:sp>
        <p:nvSpPr>
          <p:cNvPr id="18" name="Text 15"/>
          <p:cNvSpPr/>
          <p:nvPr/>
        </p:nvSpPr>
        <p:spPr>
          <a:xfrm>
            <a:off x="9216721" y="6652838"/>
            <a:ext cx="2920660" cy="364962"/>
          </a:xfrm>
          <a:prstGeom prst="rect">
            <a:avLst/>
          </a:prstGeom>
          <a:noFill/>
          <a:ln/>
        </p:spPr>
        <p:txBody>
          <a:bodyPr wrap="none" lIns="0" tIns="0" rIns="0" bIns="0" rtlCol="0" anchor="t"/>
          <a:lstStyle/>
          <a:p>
            <a:pPr algn="ctr" indent="0" marL="0">
              <a:lnSpc>
                <a:spcPts val="2100"/>
              </a:lnSpc>
              <a:buNone/>
            </a:pPr>
            <a:r>
              <a:rPr lang="en-US" sz="1650" dirty="0">
                <a:solidFill>
                  <a:srgbClr val="000000"/>
                </a:solidFill>
                <a:latin typeface="Quattrocento" pitchFamily="34" charset="0"/>
                <a:ea typeface="Quattrocento" pitchFamily="34" charset="-122"/>
                <a:cs typeface="Quattrocento" pitchFamily="34" charset="-120"/>
              </a:rPr>
              <a:t>Subscribers</a:t>
            </a:r>
            <a:endParaRPr lang="en-US" sz="1650" dirty="0"/>
          </a:p>
        </p:txBody>
      </p:sp>
      <p:sp>
        <p:nvSpPr>
          <p:cNvPr id="19" name="Text 16"/>
          <p:cNvSpPr/>
          <p:nvPr/>
        </p:nvSpPr>
        <p:spPr>
          <a:xfrm>
            <a:off x="6342772" y="6287877"/>
            <a:ext cx="1944737" cy="1094884"/>
          </a:xfrm>
          <a:prstGeom prst="rect">
            <a:avLst/>
          </a:prstGeom>
          <a:noFill/>
          <a:ln/>
        </p:spPr>
        <p:txBody>
          <a:bodyPr wrap="square" lIns="0" tIns="0" rIns="0" bIns="0" rtlCol="0" anchor="t"/>
          <a:lstStyle/>
          <a:p>
            <a:pPr algn="ctr" indent="0" marL="0">
              <a:lnSpc>
                <a:spcPts val="2100"/>
              </a:lnSpc>
              <a:buNone/>
            </a:pPr>
            <a:r>
              <a:rPr lang="en-US" sz="1650" dirty="0">
                <a:solidFill>
                  <a:srgbClr val="000000"/>
                </a:solidFill>
                <a:latin typeface="Quattrocento" pitchFamily="34" charset="0"/>
                <a:ea typeface="Quattrocento" pitchFamily="34" charset="-122"/>
                <a:cs typeface="Quattrocento" pitchFamily="34" charset="-120"/>
              </a:rPr>
              <a:t>Repeat Buyers who Subscribe</a:t>
            </a:r>
            <a:endParaRPr lang="en-US" sz="1650" dirty="0"/>
          </a:p>
        </p:txBody>
      </p:sp>
      <p:sp>
        <p:nvSpPr>
          <p:cNvPr id="20" name="Text 17"/>
          <p:cNvSpPr/>
          <p:nvPr/>
        </p:nvSpPr>
        <p:spPr>
          <a:xfrm>
            <a:off x="418862" y="10185678"/>
            <a:ext cx="13792676" cy="167640"/>
          </a:xfrm>
          <a:prstGeom prst="rect">
            <a:avLst/>
          </a:prstGeom>
          <a:noFill/>
          <a:ln/>
        </p:spPr>
        <p:txBody>
          <a:bodyPr wrap="none" lIns="0" tIns="0" rIns="0" bIns="0" rtlCol="0" anchor="t"/>
          <a:lstStyle/>
          <a:p>
            <a:pPr algn="l" indent="0" marL="0">
              <a:lnSpc>
                <a:spcPts val="1300"/>
              </a:lnSpc>
              <a:buNone/>
            </a:pPr>
            <a:r>
              <a:rPr lang="en-US" sz="800" dirty="0">
                <a:solidFill>
                  <a:srgbClr val="F9EEE7"/>
                </a:solidFill>
                <a:latin typeface="Quattrocento" pitchFamily="34" charset="0"/>
                <a:ea typeface="Quattrocento" pitchFamily="34" charset="-122"/>
                <a:cs typeface="Quattrocento" pitchFamily="34" charset="-120"/>
              </a:rPr>
              <a:t>Repeat buyers (customers with &gt;5 purchases) are significantly more likely to subscribe (958 subscribers vs. 2,518 non-subscribers among repeat buyers).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1025604"/>
            <a:ext cx="9926122" cy="615910"/>
          </a:xfrm>
          <a:prstGeom prst="rect">
            <a:avLst/>
          </a:prstGeom>
          <a:noFill/>
          <a:ln/>
        </p:spPr>
        <p:txBody>
          <a:bodyPr wrap="none" lIns="0" tIns="0" rIns="0" bIns="0" rtlCol="0" anchor="t"/>
          <a:lstStyle/>
          <a:p>
            <a:pPr algn="l" indent="0" marL="0">
              <a:lnSpc>
                <a:spcPts val="4850"/>
              </a:lnSpc>
              <a:buNone/>
            </a:pPr>
            <a:r>
              <a:rPr lang="en-US" sz="3850" dirty="0">
                <a:solidFill>
                  <a:srgbClr val="FFD9BE"/>
                </a:solidFill>
                <a:latin typeface="Quattrocento" pitchFamily="34" charset="0"/>
                <a:ea typeface="Quattrocento" pitchFamily="34" charset="-122"/>
                <a:cs typeface="Quattrocento" pitchFamily="34" charset="-120"/>
              </a:rPr>
              <a:t>Customer Segmentation by Purchase History</a:t>
            </a:r>
            <a:endParaRPr lang="en-US" sz="3850" dirty="0"/>
          </a:p>
        </p:txBody>
      </p:sp>
      <p:sp>
        <p:nvSpPr>
          <p:cNvPr id="3" name="Text 1"/>
          <p:cNvSpPr/>
          <p:nvPr/>
        </p:nvSpPr>
        <p:spPr>
          <a:xfrm>
            <a:off x="837724" y="2060377"/>
            <a:ext cx="12954952" cy="335042"/>
          </a:xfrm>
          <a:prstGeom prst="rect">
            <a:avLst/>
          </a:prstGeom>
          <a:noFill/>
          <a:ln/>
        </p:spPr>
        <p:txBody>
          <a:bodyPr wrap="none" lIns="0" tIns="0" rIns="0" bIns="0" rtlCol="0" anchor="t"/>
          <a:lstStyle/>
          <a:p>
            <a:pPr algn="l" indent="0" marL="0">
              <a:lnSpc>
                <a:spcPts val="2600"/>
              </a:lnSpc>
              <a:buNone/>
            </a:pPr>
            <a:r>
              <a:rPr lang="en-US" sz="1600" dirty="0">
                <a:solidFill>
                  <a:srgbClr val="F9EEE7"/>
                </a:solidFill>
                <a:latin typeface="Quattrocento" pitchFamily="34" charset="0"/>
                <a:ea typeface="Quattrocento" pitchFamily="34" charset="-122"/>
                <a:cs typeface="Quattrocento" pitchFamily="34" charset="-120"/>
              </a:rPr>
              <a:t>Customers were classified into three segments based on their purchase history to identify loyalty levels.</a:t>
            </a:r>
            <a:endParaRPr lang="en-US" sz="1600" dirty="0"/>
          </a:p>
        </p:txBody>
      </p:sp>
      <p:pic>
        <p:nvPicPr>
          <p:cNvPr id="4" name="Image 0" descr="preencoded.png">    </p:cNvPr>
          <p:cNvPicPr>
            <a:picLocks noChangeAspect="1"/>
          </p:cNvPicPr>
          <p:nvPr/>
        </p:nvPicPr>
        <p:blipFill>
          <a:blip r:embed="rId1"/>
          <a:stretch>
            <a:fillRect/>
          </a:stretch>
        </p:blipFill>
        <p:spPr>
          <a:xfrm>
            <a:off x="3007638" y="2631043"/>
            <a:ext cx="2137529" cy="1187529"/>
          </a:xfrm>
          <a:prstGeom prst="rect">
            <a:avLst/>
          </a:prstGeom>
        </p:spPr>
      </p:pic>
      <p:sp>
        <p:nvSpPr>
          <p:cNvPr id="5" name="Text 2"/>
          <p:cNvSpPr/>
          <p:nvPr/>
        </p:nvSpPr>
        <p:spPr>
          <a:xfrm>
            <a:off x="3929063" y="3187422"/>
            <a:ext cx="294442" cy="368141"/>
          </a:xfrm>
          <a:prstGeom prst="rect">
            <a:avLst/>
          </a:prstGeom>
          <a:noFill/>
          <a:ln/>
        </p:spPr>
        <p:txBody>
          <a:bodyPr wrap="none" lIns="0" tIns="0" rIns="0" bIns="0" rtlCol="0" anchor="t"/>
          <a:lstStyle/>
          <a:p>
            <a:pPr algn="ctr" indent="0" marL="0">
              <a:lnSpc>
                <a:spcPts val="3700"/>
              </a:lnSpc>
              <a:buNone/>
            </a:pPr>
            <a:r>
              <a:rPr lang="en-US" sz="2300" dirty="0">
                <a:solidFill>
                  <a:srgbClr val="F9EEE7"/>
                </a:solidFill>
                <a:latin typeface="Quattrocento" pitchFamily="34" charset="0"/>
                <a:ea typeface="Quattrocento" pitchFamily="34" charset="-122"/>
                <a:cs typeface="Quattrocento" pitchFamily="34" charset="-120"/>
              </a:rPr>
              <a:t>1</a:t>
            </a:r>
            <a:endParaRPr lang="en-US" sz="2300" dirty="0"/>
          </a:p>
        </p:txBody>
      </p:sp>
      <p:sp>
        <p:nvSpPr>
          <p:cNvPr id="6" name="Text 3"/>
          <p:cNvSpPr/>
          <p:nvPr/>
        </p:nvSpPr>
        <p:spPr>
          <a:xfrm>
            <a:off x="5354598" y="2840474"/>
            <a:ext cx="1305163" cy="308015"/>
          </a:xfrm>
          <a:prstGeom prst="rect">
            <a:avLst/>
          </a:prstGeom>
          <a:noFill/>
          <a:ln/>
        </p:spPr>
        <p:txBody>
          <a:bodyPr wrap="none" lIns="0" tIns="0" rIns="0" bIns="0" rtlCol="0" anchor="t"/>
          <a:lstStyle/>
          <a:p>
            <a:pPr algn="l" indent="0" marL="0">
              <a:lnSpc>
                <a:spcPts val="2400"/>
              </a:lnSpc>
              <a:buNone/>
            </a:pPr>
            <a:r>
              <a:rPr lang="en-US" sz="1900" dirty="0">
                <a:solidFill>
                  <a:srgbClr val="F9EEE7"/>
                </a:solidFill>
                <a:latin typeface="Quattrocento" pitchFamily="34" charset="0"/>
                <a:ea typeface="Quattrocento" pitchFamily="34" charset="-122"/>
                <a:cs typeface="Quattrocento" pitchFamily="34" charset="-120"/>
              </a:rPr>
              <a:t>New</a:t>
            </a:r>
            <a:endParaRPr lang="en-US" sz="1900" dirty="0"/>
          </a:p>
        </p:txBody>
      </p:sp>
      <p:sp>
        <p:nvSpPr>
          <p:cNvPr id="7" name="Text 4"/>
          <p:cNvSpPr/>
          <p:nvPr/>
        </p:nvSpPr>
        <p:spPr>
          <a:xfrm>
            <a:off x="5354598" y="3274100"/>
            <a:ext cx="1305163" cy="335042"/>
          </a:xfrm>
          <a:prstGeom prst="rect">
            <a:avLst/>
          </a:prstGeom>
          <a:noFill/>
          <a:ln/>
        </p:spPr>
        <p:txBody>
          <a:bodyPr wrap="none" lIns="0" tIns="0" rIns="0" bIns="0" rtlCol="0" anchor="t"/>
          <a:lstStyle/>
          <a:p>
            <a:pPr algn="l" indent="0" marL="0">
              <a:lnSpc>
                <a:spcPts val="2600"/>
              </a:lnSpc>
              <a:buNone/>
            </a:pPr>
            <a:r>
              <a:rPr lang="en-US" sz="1600" dirty="0">
                <a:solidFill>
                  <a:srgbClr val="F9EEE7"/>
                </a:solidFill>
                <a:latin typeface="Quattrocento" pitchFamily="34" charset="0"/>
                <a:ea typeface="Quattrocento" pitchFamily="34" charset="-122"/>
                <a:cs typeface="Quattrocento" pitchFamily="34" charset="-120"/>
              </a:rPr>
              <a:t>83 Customers</a:t>
            </a:r>
            <a:endParaRPr lang="en-US" sz="1600" dirty="0"/>
          </a:p>
        </p:txBody>
      </p:sp>
      <p:sp>
        <p:nvSpPr>
          <p:cNvPr id="8" name="Shape 5"/>
          <p:cNvSpPr/>
          <p:nvPr/>
        </p:nvSpPr>
        <p:spPr>
          <a:xfrm>
            <a:off x="5197435" y="3835122"/>
            <a:ext cx="8542973" cy="11430"/>
          </a:xfrm>
          <a:prstGeom prst="roundRect">
            <a:avLst>
              <a:gd name="adj" fmla="val 274880"/>
            </a:avLst>
          </a:prstGeom>
          <a:solidFill>
            <a:srgbClr val="4A6B6A"/>
          </a:solidFill>
          <a:ln/>
        </p:spPr>
      </p:sp>
      <p:pic>
        <p:nvPicPr>
          <p:cNvPr id="9" name="Image 1" descr="preencoded.png">    </p:cNvPr>
          <p:cNvPicPr>
            <a:picLocks noChangeAspect="1"/>
          </p:cNvPicPr>
          <p:nvPr/>
        </p:nvPicPr>
        <p:blipFill>
          <a:blip r:embed="rId2"/>
          <a:stretch>
            <a:fillRect/>
          </a:stretch>
        </p:blipFill>
        <p:spPr>
          <a:xfrm>
            <a:off x="1938814" y="3870841"/>
            <a:ext cx="4275058" cy="1187529"/>
          </a:xfrm>
          <a:prstGeom prst="rect">
            <a:avLst/>
          </a:prstGeom>
        </p:spPr>
      </p:pic>
      <p:sp>
        <p:nvSpPr>
          <p:cNvPr id="10" name="Text 6"/>
          <p:cNvSpPr/>
          <p:nvPr/>
        </p:nvSpPr>
        <p:spPr>
          <a:xfrm>
            <a:off x="3929063" y="4280535"/>
            <a:ext cx="294442" cy="368141"/>
          </a:xfrm>
          <a:prstGeom prst="rect">
            <a:avLst/>
          </a:prstGeom>
          <a:noFill/>
          <a:ln/>
        </p:spPr>
        <p:txBody>
          <a:bodyPr wrap="none" lIns="0" tIns="0" rIns="0" bIns="0" rtlCol="0" anchor="t"/>
          <a:lstStyle/>
          <a:p>
            <a:pPr algn="ctr" indent="0" marL="0">
              <a:lnSpc>
                <a:spcPts val="3700"/>
              </a:lnSpc>
              <a:buNone/>
            </a:pPr>
            <a:r>
              <a:rPr lang="en-US" sz="2300" dirty="0">
                <a:solidFill>
                  <a:srgbClr val="F9EEE7"/>
                </a:solidFill>
                <a:latin typeface="Quattrocento" pitchFamily="34" charset="0"/>
                <a:ea typeface="Quattrocento" pitchFamily="34" charset="-122"/>
                <a:cs typeface="Quattrocento" pitchFamily="34" charset="-120"/>
              </a:rPr>
              <a:t>2</a:t>
            </a:r>
            <a:endParaRPr lang="en-US" sz="2300" dirty="0"/>
          </a:p>
        </p:txBody>
      </p:sp>
      <p:sp>
        <p:nvSpPr>
          <p:cNvPr id="11" name="Text 7"/>
          <p:cNvSpPr/>
          <p:nvPr/>
        </p:nvSpPr>
        <p:spPr>
          <a:xfrm>
            <a:off x="6423303" y="4080272"/>
            <a:ext cx="1390888" cy="308015"/>
          </a:xfrm>
          <a:prstGeom prst="rect">
            <a:avLst/>
          </a:prstGeom>
          <a:noFill/>
          <a:ln/>
        </p:spPr>
        <p:txBody>
          <a:bodyPr wrap="none" lIns="0" tIns="0" rIns="0" bIns="0" rtlCol="0" anchor="t"/>
          <a:lstStyle/>
          <a:p>
            <a:pPr algn="l" indent="0" marL="0">
              <a:lnSpc>
                <a:spcPts val="2400"/>
              </a:lnSpc>
              <a:buNone/>
            </a:pPr>
            <a:r>
              <a:rPr lang="en-US" sz="1900" dirty="0">
                <a:solidFill>
                  <a:srgbClr val="F9EEE7"/>
                </a:solidFill>
                <a:latin typeface="Quattrocento" pitchFamily="34" charset="0"/>
                <a:ea typeface="Quattrocento" pitchFamily="34" charset="-122"/>
                <a:cs typeface="Quattrocento" pitchFamily="34" charset="-120"/>
              </a:rPr>
              <a:t>Returning</a:t>
            </a:r>
            <a:endParaRPr lang="en-US" sz="1900" dirty="0"/>
          </a:p>
        </p:txBody>
      </p:sp>
      <p:sp>
        <p:nvSpPr>
          <p:cNvPr id="12" name="Text 8"/>
          <p:cNvSpPr/>
          <p:nvPr/>
        </p:nvSpPr>
        <p:spPr>
          <a:xfrm>
            <a:off x="6423303" y="4513898"/>
            <a:ext cx="1390888" cy="335042"/>
          </a:xfrm>
          <a:prstGeom prst="rect">
            <a:avLst/>
          </a:prstGeom>
          <a:noFill/>
          <a:ln/>
        </p:spPr>
        <p:txBody>
          <a:bodyPr wrap="none" lIns="0" tIns="0" rIns="0" bIns="0" rtlCol="0" anchor="t"/>
          <a:lstStyle/>
          <a:p>
            <a:pPr algn="l" indent="0" marL="0">
              <a:lnSpc>
                <a:spcPts val="2600"/>
              </a:lnSpc>
              <a:buNone/>
            </a:pPr>
            <a:r>
              <a:rPr lang="en-US" sz="1600" dirty="0">
                <a:solidFill>
                  <a:srgbClr val="F9EEE7"/>
                </a:solidFill>
                <a:latin typeface="Quattrocento" pitchFamily="34" charset="0"/>
                <a:ea typeface="Quattrocento" pitchFamily="34" charset="-122"/>
                <a:cs typeface="Quattrocento" pitchFamily="34" charset="-120"/>
              </a:rPr>
              <a:t>701 Customers</a:t>
            </a:r>
            <a:endParaRPr lang="en-US" sz="1600" dirty="0"/>
          </a:p>
        </p:txBody>
      </p:sp>
      <p:sp>
        <p:nvSpPr>
          <p:cNvPr id="13" name="Shape 9"/>
          <p:cNvSpPr/>
          <p:nvPr/>
        </p:nvSpPr>
        <p:spPr>
          <a:xfrm>
            <a:off x="6266140" y="5074920"/>
            <a:ext cx="7474268" cy="11430"/>
          </a:xfrm>
          <a:prstGeom prst="roundRect">
            <a:avLst>
              <a:gd name="adj" fmla="val 274880"/>
            </a:avLst>
          </a:prstGeom>
          <a:solidFill>
            <a:srgbClr val="4A6B6A"/>
          </a:solidFill>
          <a:ln/>
        </p:spPr>
      </p:sp>
      <p:pic>
        <p:nvPicPr>
          <p:cNvPr id="14" name="Image 2" descr="preencoded.png">    </p:cNvPr>
          <p:cNvPicPr>
            <a:picLocks noChangeAspect="1"/>
          </p:cNvPicPr>
          <p:nvPr/>
        </p:nvPicPr>
        <p:blipFill>
          <a:blip r:embed="rId3"/>
          <a:stretch>
            <a:fillRect/>
          </a:stretch>
        </p:blipFill>
        <p:spPr>
          <a:xfrm>
            <a:off x="870109" y="5110639"/>
            <a:ext cx="6412587" cy="1187529"/>
          </a:xfrm>
          <a:prstGeom prst="rect">
            <a:avLst/>
          </a:prstGeom>
        </p:spPr>
      </p:pic>
      <p:sp>
        <p:nvSpPr>
          <p:cNvPr id="15" name="Text 10"/>
          <p:cNvSpPr/>
          <p:nvPr/>
        </p:nvSpPr>
        <p:spPr>
          <a:xfrm>
            <a:off x="3929182" y="5520333"/>
            <a:ext cx="294442" cy="368141"/>
          </a:xfrm>
          <a:prstGeom prst="rect">
            <a:avLst/>
          </a:prstGeom>
          <a:noFill/>
          <a:ln/>
        </p:spPr>
        <p:txBody>
          <a:bodyPr wrap="none" lIns="0" tIns="0" rIns="0" bIns="0" rtlCol="0" anchor="t"/>
          <a:lstStyle/>
          <a:p>
            <a:pPr algn="ctr" indent="0" marL="0">
              <a:lnSpc>
                <a:spcPts val="3700"/>
              </a:lnSpc>
              <a:buNone/>
            </a:pPr>
            <a:r>
              <a:rPr lang="en-US" sz="2300" dirty="0">
                <a:solidFill>
                  <a:srgbClr val="F9EEE7"/>
                </a:solidFill>
                <a:latin typeface="Quattrocento" pitchFamily="34" charset="0"/>
                <a:ea typeface="Quattrocento" pitchFamily="34" charset="-122"/>
                <a:cs typeface="Quattrocento" pitchFamily="34" charset="-120"/>
              </a:rPr>
              <a:t>3</a:t>
            </a:r>
            <a:endParaRPr lang="en-US" sz="2300" dirty="0"/>
          </a:p>
        </p:txBody>
      </p:sp>
      <p:sp>
        <p:nvSpPr>
          <p:cNvPr id="16" name="Text 11"/>
          <p:cNvSpPr/>
          <p:nvPr/>
        </p:nvSpPr>
        <p:spPr>
          <a:xfrm>
            <a:off x="7492127" y="5320070"/>
            <a:ext cx="1494949" cy="308015"/>
          </a:xfrm>
          <a:prstGeom prst="rect">
            <a:avLst/>
          </a:prstGeom>
          <a:noFill/>
          <a:ln/>
        </p:spPr>
        <p:txBody>
          <a:bodyPr wrap="none" lIns="0" tIns="0" rIns="0" bIns="0" rtlCol="0" anchor="t"/>
          <a:lstStyle/>
          <a:p>
            <a:pPr algn="l" indent="0" marL="0">
              <a:lnSpc>
                <a:spcPts val="2400"/>
              </a:lnSpc>
              <a:buNone/>
            </a:pPr>
            <a:r>
              <a:rPr lang="en-US" sz="1900" dirty="0">
                <a:solidFill>
                  <a:srgbClr val="F9EEE7"/>
                </a:solidFill>
                <a:latin typeface="Quattrocento" pitchFamily="34" charset="0"/>
                <a:ea typeface="Quattrocento" pitchFamily="34" charset="-122"/>
                <a:cs typeface="Quattrocento" pitchFamily="34" charset="-120"/>
              </a:rPr>
              <a:t>Loyal</a:t>
            </a:r>
            <a:endParaRPr lang="en-US" sz="1900" dirty="0"/>
          </a:p>
        </p:txBody>
      </p:sp>
      <p:sp>
        <p:nvSpPr>
          <p:cNvPr id="17" name="Text 12"/>
          <p:cNvSpPr/>
          <p:nvPr/>
        </p:nvSpPr>
        <p:spPr>
          <a:xfrm>
            <a:off x="7492127" y="5753695"/>
            <a:ext cx="1494949" cy="335042"/>
          </a:xfrm>
          <a:prstGeom prst="rect">
            <a:avLst/>
          </a:prstGeom>
          <a:noFill/>
          <a:ln/>
        </p:spPr>
        <p:txBody>
          <a:bodyPr wrap="none" lIns="0" tIns="0" rIns="0" bIns="0" rtlCol="0" anchor="t"/>
          <a:lstStyle/>
          <a:p>
            <a:pPr algn="l" indent="0" marL="0">
              <a:lnSpc>
                <a:spcPts val="2600"/>
              </a:lnSpc>
              <a:buNone/>
            </a:pPr>
            <a:r>
              <a:rPr lang="en-US" sz="1600" dirty="0">
                <a:solidFill>
                  <a:srgbClr val="F9EEE7"/>
                </a:solidFill>
                <a:latin typeface="Quattrocento" pitchFamily="34" charset="0"/>
                <a:ea typeface="Quattrocento" pitchFamily="34" charset="-122"/>
                <a:cs typeface="Quattrocento" pitchFamily="34" charset="-120"/>
              </a:rPr>
              <a:t>3,116 Customers</a:t>
            </a:r>
            <a:endParaRPr lang="en-US" sz="1600" dirty="0"/>
          </a:p>
        </p:txBody>
      </p:sp>
      <p:sp>
        <p:nvSpPr>
          <p:cNvPr id="18" name="Text 13"/>
          <p:cNvSpPr/>
          <p:nvPr/>
        </p:nvSpPr>
        <p:spPr>
          <a:xfrm>
            <a:off x="837724" y="6533793"/>
            <a:ext cx="12954952" cy="670084"/>
          </a:xfrm>
          <a:prstGeom prst="rect">
            <a:avLst/>
          </a:prstGeom>
          <a:noFill/>
          <a:ln/>
        </p:spPr>
        <p:txBody>
          <a:bodyPr wrap="square" lIns="0" tIns="0" rIns="0" bIns="0" rtlCol="0" anchor="t"/>
          <a:lstStyle/>
          <a:p>
            <a:pPr algn="l" indent="0" marL="0">
              <a:lnSpc>
                <a:spcPts val="2600"/>
              </a:lnSpc>
              <a:buNone/>
            </a:pPr>
            <a:r>
              <a:rPr lang="en-US" sz="1600" dirty="0">
                <a:solidFill>
                  <a:srgbClr val="F9EEE7"/>
                </a:solidFill>
                <a:latin typeface="Quattrocento" pitchFamily="34" charset="0"/>
                <a:ea typeface="Quattrocento" pitchFamily="34" charset="-122"/>
                <a:cs typeface="Quattrocento" pitchFamily="34" charset="-120"/>
              </a:rPr>
              <a:t>The vast majority of the customer base falls into the </a:t>
            </a:r>
            <a:pPr algn="l" indent="0" marL="0">
              <a:lnSpc>
                <a:spcPts val="2600"/>
              </a:lnSpc>
              <a:buNone/>
            </a:pPr>
            <a:r>
              <a:rPr lang="en-US" sz="1600" dirty="0">
                <a:solidFill>
                  <a:srgbClr val="1D4241"/>
                </a:solidFill>
                <a:latin typeface="Quattrocento" pitchFamily="34" charset="0"/>
                <a:ea typeface="Quattrocento" pitchFamily="34" charset="-122"/>
                <a:cs typeface="Quattrocento" pitchFamily="34" charset="-120"/>
              </a:rPr>
              <a:t>Loyal</a:t>
            </a:r>
            <a:pPr algn="l" indent="0" marL="0">
              <a:lnSpc>
                <a:spcPts val="2600"/>
              </a:lnSpc>
              <a:buNone/>
            </a:pPr>
            <a:r>
              <a:rPr lang="en-US" sz="1600" dirty="0">
                <a:solidFill>
                  <a:srgbClr val="F9EEE7"/>
                </a:solidFill>
                <a:latin typeface="Quattrocento" pitchFamily="34" charset="0"/>
                <a:ea typeface="Quattrocento" pitchFamily="34" charset="-122"/>
                <a:cs typeface="Quattrocento" pitchFamily="34" charset="-120"/>
              </a:rPr>
              <a:t> segment, indicating strong retention, but the small </a:t>
            </a:r>
            <a:pPr algn="l" indent="0" marL="0">
              <a:lnSpc>
                <a:spcPts val="2600"/>
              </a:lnSpc>
              <a:buNone/>
            </a:pPr>
            <a:r>
              <a:rPr lang="en-US" sz="1600" dirty="0">
                <a:solidFill>
                  <a:srgbClr val="EF9C82"/>
                </a:solidFill>
                <a:latin typeface="Quattrocento" pitchFamily="34" charset="0"/>
                <a:ea typeface="Quattrocento" pitchFamily="34" charset="-122"/>
                <a:cs typeface="Quattrocento" pitchFamily="34" charset="-120"/>
              </a:rPr>
              <a:t>New</a:t>
            </a:r>
            <a:pPr algn="l" indent="0" marL="0">
              <a:lnSpc>
                <a:spcPts val="2600"/>
              </a:lnSpc>
              <a:buNone/>
            </a:pPr>
            <a:r>
              <a:rPr lang="en-US" sz="1600" dirty="0">
                <a:solidFill>
                  <a:srgbClr val="F9EEE7"/>
                </a:solidFill>
                <a:latin typeface="Quattrocento" pitchFamily="34" charset="0"/>
                <a:ea typeface="Quattrocento" pitchFamily="34" charset="-122"/>
                <a:cs typeface="Quattrocento" pitchFamily="34" charset="-120"/>
              </a:rPr>
              <a:t> segment suggests an opportunity for acquisition focus.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50307" y="378381"/>
            <a:ext cx="5286851" cy="404574"/>
          </a:xfrm>
          <a:prstGeom prst="rect">
            <a:avLst/>
          </a:prstGeom>
          <a:noFill/>
          <a:ln/>
        </p:spPr>
        <p:txBody>
          <a:bodyPr wrap="none" lIns="0" tIns="0" rIns="0" bIns="0" rtlCol="0" anchor="t"/>
          <a:lstStyle/>
          <a:p>
            <a:pPr algn="l" indent="0" marL="0">
              <a:lnSpc>
                <a:spcPts val="3150"/>
              </a:lnSpc>
              <a:buNone/>
            </a:pPr>
            <a:r>
              <a:rPr lang="en-US" sz="2500" dirty="0">
                <a:solidFill>
                  <a:srgbClr val="FFD9BE"/>
                </a:solidFill>
                <a:latin typeface="Quattrocento" pitchFamily="34" charset="0"/>
                <a:ea typeface="Quattrocento" pitchFamily="34" charset="-122"/>
                <a:cs typeface="Quattrocento" pitchFamily="34" charset="-120"/>
              </a:rPr>
              <a:t>Revenue Contribution by Age Group</a:t>
            </a:r>
            <a:endParaRPr lang="en-US" sz="2500" dirty="0"/>
          </a:p>
        </p:txBody>
      </p:sp>
      <p:sp>
        <p:nvSpPr>
          <p:cNvPr id="3" name="Text 1"/>
          <p:cNvSpPr/>
          <p:nvPr/>
        </p:nvSpPr>
        <p:spPr>
          <a:xfrm>
            <a:off x="550307" y="1058108"/>
            <a:ext cx="13529786" cy="220147"/>
          </a:xfrm>
          <a:prstGeom prst="rect">
            <a:avLst/>
          </a:prstGeom>
          <a:noFill/>
          <a:ln/>
        </p:spPr>
        <p:txBody>
          <a:bodyPr wrap="none" lIns="0" tIns="0" rIns="0" bIns="0" rtlCol="0" anchor="t"/>
          <a:lstStyle/>
          <a:p>
            <a:pPr algn="l" indent="0" marL="0">
              <a:lnSpc>
                <a:spcPts val="1700"/>
              </a:lnSpc>
              <a:buNone/>
            </a:pPr>
            <a:r>
              <a:rPr lang="en-US" sz="1050" dirty="0">
                <a:solidFill>
                  <a:srgbClr val="F9EEE7"/>
                </a:solidFill>
                <a:latin typeface="Quattrocento" pitchFamily="34" charset="0"/>
                <a:ea typeface="Quattrocento" pitchFamily="34" charset="-122"/>
                <a:cs typeface="Quattrocento" pitchFamily="34" charset="-120"/>
              </a:rPr>
              <a:t>Understanding which age demographics contribute the most to total revenue helps in targeted marketing efforts.</a:t>
            </a:r>
            <a:endParaRPr lang="en-US" sz="1050" dirty="0"/>
          </a:p>
        </p:txBody>
      </p:sp>
      <p:pic>
        <p:nvPicPr>
          <p:cNvPr id="4" name="Image 0" descr="preencoded.png">    </p:cNvPr>
          <p:cNvPicPr>
            <a:picLocks noChangeAspect="1"/>
          </p:cNvPicPr>
          <p:nvPr/>
        </p:nvPicPr>
        <p:blipFill>
          <a:blip r:embed="rId1"/>
          <a:stretch>
            <a:fillRect/>
          </a:stretch>
        </p:blipFill>
        <p:spPr>
          <a:xfrm>
            <a:off x="550307" y="1433036"/>
            <a:ext cx="13529786" cy="7576661"/>
          </a:xfrm>
          <a:prstGeom prst="rect">
            <a:avLst/>
          </a:prstGeom>
        </p:spPr>
      </p:pic>
      <p:sp>
        <p:nvSpPr>
          <p:cNvPr id="5" name="Text 2"/>
          <p:cNvSpPr/>
          <p:nvPr/>
        </p:nvSpPr>
        <p:spPr>
          <a:xfrm>
            <a:off x="550307" y="9164479"/>
            <a:ext cx="13529786" cy="220147"/>
          </a:xfrm>
          <a:prstGeom prst="rect">
            <a:avLst/>
          </a:prstGeom>
          <a:noFill/>
          <a:ln/>
        </p:spPr>
        <p:txBody>
          <a:bodyPr wrap="none" lIns="0" tIns="0" rIns="0" bIns="0" rtlCol="0" anchor="t"/>
          <a:lstStyle/>
          <a:p>
            <a:pPr algn="l" indent="0" marL="0">
              <a:lnSpc>
                <a:spcPts val="1700"/>
              </a:lnSpc>
              <a:buNone/>
            </a:pPr>
            <a:r>
              <a:rPr lang="en-US" sz="1050" dirty="0">
                <a:solidFill>
                  <a:srgbClr val="F9EEE7"/>
                </a:solidFill>
                <a:latin typeface="Quattrocento" pitchFamily="34" charset="0"/>
                <a:ea typeface="Quattrocento" pitchFamily="34" charset="-122"/>
                <a:cs typeface="Quattrocento" pitchFamily="34" charset="-120"/>
              </a:rPr>
              <a:t>The </a:t>
            </a:r>
            <a:pPr algn="l" indent="0" marL="0">
              <a:lnSpc>
                <a:spcPts val="1700"/>
              </a:lnSpc>
              <a:buNone/>
            </a:pPr>
            <a:r>
              <a:rPr lang="en-US" sz="1050" dirty="0">
                <a:solidFill>
                  <a:srgbClr val="EF9C82"/>
                </a:solidFill>
                <a:latin typeface="Quattrocento" pitchFamily="34" charset="0"/>
                <a:ea typeface="Quattrocento" pitchFamily="34" charset="-122"/>
                <a:cs typeface="Quattrocento" pitchFamily="34" charset="-120"/>
              </a:rPr>
              <a:t>Young Adult</a:t>
            </a:r>
            <a:pPr algn="l" indent="0" marL="0">
              <a:lnSpc>
                <a:spcPts val="1700"/>
              </a:lnSpc>
              <a:buNone/>
            </a:pPr>
            <a:r>
              <a:rPr lang="en-US" sz="1050" dirty="0">
                <a:solidFill>
                  <a:srgbClr val="F9EEE7"/>
                </a:solidFill>
                <a:latin typeface="Quattrocento" pitchFamily="34" charset="0"/>
                <a:ea typeface="Quattrocento" pitchFamily="34" charset="-122"/>
                <a:cs typeface="Quattrocento" pitchFamily="34" charset="-120"/>
              </a:rPr>
              <a:t> segment (binned ages) is the largest revenue driver, followed closely by the Middle-aged group. Marketing campaigns should prioritize these high-value demographics.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9363"/>
          </a:xfrm>
          <a:prstGeom prst="rect">
            <a:avLst/>
          </a:prstGeom>
        </p:spPr>
      </p:pic>
      <p:sp>
        <p:nvSpPr>
          <p:cNvPr id="3" name="Text 0"/>
          <p:cNvSpPr/>
          <p:nvPr/>
        </p:nvSpPr>
        <p:spPr>
          <a:xfrm>
            <a:off x="5997654" y="351472"/>
            <a:ext cx="4805601" cy="375880"/>
          </a:xfrm>
          <a:prstGeom prst="rect">
            <a:avLst/>
          </a:prstGeom>
          <a:noFill/>
          <a:ln/>
        </p:spPr>
        <p:txBody>
          <a:bodyPr wrap="none" lIns="0" tIns="0" rIns="0" bIns="0" rtlCol="0" anchor="t"/>
          <a:lstStyle/>
          <a:p>
            <a:pPr algn="l" indent="0" marL="0">
              <a:lnSpc>
                <a:spcPts val="2950"/>
              </a:lnSpc>
              <a:buNone/>
            </a:pPr>
            <a:r>
              <a:rPr lang="en-US" sz="2350" dirty="0">
                <a:solidFill>
                  <a:srgbClr val="FFD9BE"/>
                </a:solidFill>
                <a:latin typeface="Quattrocento" pitchFamily="34" charset="0"/>
                <a:ea typeface="Quattrocento" pitchFamily="34" charset="-122"/>
                <a:cs typeface="Quattrocento" pitchFamily="34" charset="-120"/>
              </a:rPr>
              <a:t>Top Products Within Each Category</a:t>
            </a:r>
            <a:endParaRPr lang="en-US" sz="2350" dirty="0"/>
          </a:p>
        </p:txBody>
      </p:sp>
      <p:sp>
        <p:nvSpPr>
          <p:cNvPr id="4" name="Text 1"/>
          <p:cNvSpPr/>
          <p:nvPr/>
        </p:nvSpPr>
        <p:spPr>
          <a:xfrm>
            <a:off x="5997654" y="919043"/>
            <a:ext cx="8121491" cy="204549"/>
          </a:xfrm>
          <a:prstGeom prst="rect">
            <a:avLst/>
          </a:prstGeom>
          <a:noFill/>
          <a:ln/>
        </p:spPr>
        <p:txBody>
          <a:bodyPr wrap="non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Identifying the best-selling items across the four main product categories.</a:t>
            </a:r>
            <a:endParaRPr lang="en-US" sz="1000" dirty="0"/>
          </a:p>
        </p:txBody>
      </p:sp>
      <p:sp>
        <p:nvSpPr>
          <p:cNvPr id="5" name="Shape 2"/>
          <p:cNvSpPr/>
          <p:nvPr/>
        </p:nvSpPr>
        <p:spPr>
          <a:xfrm>
            <a:off x="5997654" y="1458992"/>
            <a:ext cx="8121491" cy="1429941"/>
          </a:xfrm>
          <a:prstGeom prst="roundRect">
            <a:avLst>
              <a:gd name="adj" fmla="val 5116"/>
            </a:avLst>
          </a:prstGeom>
          <a:solidFill>
            <a:srgbClr val="123332"/>
          </a:solidFill>
          <a:ln/>
        </p:spPr>
      </p:sp>
      <p:sp>
        <p:nvSpPr>
          <p:cNvPr id="6" name="Shape 3"/>
          <p:cNvSpPr/>
          <p:nvPr/>
        </p:nvSpPr>
        <p:spPr>
          <a:xfrm>
            <a:off x="5997654" y="1443752"/>
            <a:ext cx="8121491" cy="60960"/>
          </a:xfrm>
          <a:prstGeom prst="roundRect">
            <a:avLst>
              <a:gd name="adj" fmla="val 31451"/>
            </a:avLst>
          </a:prstGeom>
          <a:solidFill>
            <a:srgbClr val="EF9C82"/>
          </a:solidFill>
          <a:ln/>
        </p:spPr>
      </p:sp>
      <p:sp>
        <p:nvSpPr>
          <p:cNvPr id="7" name="Shape 4"/>
          <p:cNvSpPr/>
          <p:nvPr/>
        </p:nvSpPr>
        <p:spPr>
          <a:xfrm>
            <a:off x="9866709" y="1267301"/>
            <a:ext cx="383381" cy="383381"/>
          </a:xfrm>
          <a:prstGeom prst="roundRect">
            <a:avLst>
              <a:gd name="adj" fmla="val 238509"/>
            </a:avLst>
          </a:prstGeom>
          <a:solidFill>
            <a:srgbClr val="EF9C82"/>
          </a:solidFill>
          <a:ln/>
        </p:spPr>
      </p:sp>
      <p:pic>
        <p:nvPicPr>
          <p:cNvPr id="8"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81724" y="1382316"/>
            <a:ext cx="153353" cy="153352"/>
          </a:xfrm>
          <a:prstGeom prst="rect">
            <a:avLst/>
          </a:prstGeom>
        </p:spPr>
      </p:pic>
      <p:sp>
        <p:nvSpPr>
          <p:cNvPr id="9" name="Text 5"/>
          <p:cNvSpPr/>
          <p:nvPr/>
        </p:nvSpPr>
        <p:spPr>
          <a:xfrm>
            <a:off x="6140648" y="1778437"/>
            <a:ext cx="1503640" cy="187881"/>
          </a:xfrm>
          <a:prstGeom prst="rect">
            <a:avLst/>
          </a:prstGeom>
          <a:noFill/>
          <a:ln/>
        </p:spPr>
        <p:txBody>
          <a:bodyPr wrap="none" lIns="0" tIns="0" rIns="0" bIns="0" rtlCol="0" anchor="t"/>
          <a:lstStyle/>
          <a:p>
            <a:pPr algn="l" indent="0" marL="0">
              <a:lnSpc>
                <a:spcPts val="1450"/>
              </a:lnSpc>
              <a:buNone/>
            </a:pPr>
            <a:r>
              <a:rPr lang="en-US" sz="1150" dirty="0">
                <a:solidFill>
                  <a:srgbClr val="F9EEE7"/>
                </a:solidFill>
                <a:latin typeface="Quattrocento" pitchFamily="34" charset="0"/>
                <a:ea typeface="Quattrocento" pitchFamily="34" charset="-122"/>
                <a:cs typeface="Quattrocento" pitchFamily="34" charset="-120"/>
              </a:rPr>
              <a:t>Accessories</a:t>
            </a:r>
            <a:endParaRPr lang="en-US" sz="1150" dirty="0"/>
          </a:p>
        </p:txBody>
      </p:sp>
      <p:sp>
        <p:nvSpPr>
          <p:cNvPr id="10" name="Text 6"/>
          <p:cNvSpPr/>
          <p:nvPr/>
        </p:nvSpPr>
        <p:spPr>
          <a:xfrm>
            <a:off x="6140648" y="2042993"/>
            <a:ext cx="7835503" cy="204549"/>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Jewelry (171 purchases)</a:t>
            </a:r>
            <a:endParaRPr lang="en-US" sz="1000" dirty="0"/>
          </a:p>
        </p:txBody>
      </p:sp>
      <p:sp>
        <p:nvSpPr>
          <p:cNvPr id="11" name="Text 7"/>
          <p:cNvSpPr/>
          <p:nvPr/>
        </p:nvSpPr>
        <p:spPr>
          <a:xfrm>
            <a:off x="6140648" y="2292191"/>
            <a:ext cx="7835503" cy="204549"/>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Belt (161 purchases)</a:t>
            </a:r>
            <a:endParaRPr lang="en-US" sz="1000" dirty="0"/>
          </a:p>
        </p:txBody>
      </p:sp>
      <p:sp>
        <p:nvSpPr>
          <p:cNvPr id="12" name="Text 8"/>
          <p:cNvSpPr/>
          <p:nvPr/>
        </p:nvSpPr>
        <p:spPr>
          <a:xfrm>
            <a:off x="6140648" y="2541389"/>
            <a:ext cx="7835503" cy="204549"/>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Sunglasses (161 purchases)</a:t>
            </a:r>
            <a:endParaRPr lang="en-US" sz="1000" dirty="0"/>
          </a:p>
        </p:txBody>
      </p:sp>
      <p:sp>
        <p:nvSpPr>
          <p:cNvPr id="13" name="Shape 9"/>
          <p:cNvSpPr/>
          <p:nvPr/>
        </p:nvSpPr>
        <p:spPr>
          <a:xfrm>
            <a:off x="5997654" y="3208377"/>
            <a:ext cx="8121491" cy="1429941"/>
          </a:xfrm>
          <a:prstGeom prst="roundRect">
            <a:avLst>
              <a:gd name="adj" fmla="val 5116"/>
            </a:avLst>
          </a:prstGeom>
          <a:solidFill>
            <a:srgbClr val="123332"/>
          </a:solidFill>
          <a:ln/>
        </p:spPr>
      </p:sp>
      <p:sp>
        <p:nvSpPr>
          <p:cNvPr id="14" name="Shape 10"/>
          <p:cNvSpPr/>
          <p:nvPr/>
        </p:nvSpPr>
        <p:spPr>
          <a:xfrm>
            <a:off x="5997654" y="3193137"/>
            <a:ext cx="8121491" cy="60960"/>
          </a:xfrm>
          <a:prstGeom prst="roundRect">
            <a:avLst>
              <a:gd name="adj" fmla="val 31451"/>
            </a:avLst>
          </a:prstGeom>
          <a:solidFill>
            <a:srgbClr val="EF9C82"/>
          </a:solidFill>
          <a:ln/>
        </p:spPr>
      </p:sp>
      <p:sp>
        <p:nvSpPr>
          <p:cNvPr id="15" name="Shape 11"/>
          <p:cNvSpPr/>
          <p:nvPr/>
        </p:nvSpPr>
        <p:spPr>
          <a:xfrm>
            <a:off x="9866709" y="3016687"/>
            <a:ext cx="383381" cy="383381"/>
          </a:xfrm>
          <a:prstGeom prst="roundRect">
            <a:avLst>
              <a:gd name="adj" fmla="val 238509"/>
            </a:avLst>
          </a:prstGeom>
          <a:solidFill>
            <a:srgbClr val="EF9C82"/>
          </a:solidFill>
          <a:ln/>
        </p:spPr>
      </p:sp>
      <p:pic>
        <p:nvPicPr>
          <p:cNvPr id="1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81724" y="3131701"/>
            <a:ext cx="153353" cy="153352"/>
          </a:xfrm>
          <a:prstGeom prst="rect">
            <a:avLst/>
          </a:prstGeom>
        </p:spPr>
      </p:pic>
      <p:sp>
        <p:nvSpPr>
          <p:cNvPr id="17" name="Text 12"/>
          <p:cNvSpPr/>
          <p:nvPr/>
        </p:nvSpPr>
        <p:spPr>
          <a:xfrm>
            <a:off x="6140648" y="3527822"/>
            <a:ext cx="1503640" cy="187881"/>
          </a:xfrm>
          <a:prstGeom prst="rect">
            <a:avLst/>
          </a:prstGeom>
          <a:noFill/>
          <a:ln/>
        </p:spPr>
        <p:txBody>
          <a:bodyPr wrap="none" lIns="0" tIns="0" rIns="0" bIns="0" rtlCol="0" anchor="t"/>
          <a:lstStyle/>
          <a:p>
            <a:pPr algn="l" indent="0" marL="0">
              <a:lnSpc>
                <a:spcPts val="1450"/>
              </a:lnSpc>
              <a:buNone/>
            </a:pPr>
            <a:r>
              <a:rPr lang="en-US" sz="1150" dirty="0">
                <a:solidFill>
                  <a:srgbClr val="F9EEE7"/>
                </a:solidFill>
                <a:latin typeface="Quattrocento" pitchFamily="34" charset="0"/>
                <a:ea typeface="Quattrocento" pitchFamily="34" charset="-122"/>
                <a:cs typeface="Quattrocento" pitchFamily="34" charset="-120"/>
              </a:rPr>
              <a:t>Clothing</a:t>
            </a:r>
            <a:endParaRPr lang="en-US" sz="1150" dirty="0"/>
          </a:p>
        </p:txBody>
      </p:sp>
      <p:sp>
        <p:nvSpPr>
          <p:cNvPr id="18" name="Text 13"/>
          <p:cNvSpPr/>
          <p:nvPr/>
        </p:nvSpPr>
        <p:spPr>
          <a:xfrm>
            <a:off x="6140648" y="3792379"/>
            <a:ext cx="7835503" cy="204549"/>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Blouse (171 purchases)</a:t>
            </a:r>
            <a:endParaRPr lang="en-US" sz="1000" dirty="0"/>
          </a:p>
        </p:txBody>
      </p:sp>
      <p:sp>
        <p:nvSpPr>
          <p:cNvPr id="19" name="Text 14"/>
          <p:cNvSpPr/>
          <p:nvPr/>
        </p:nvSpPr>
        <p:spPr>
          <a:xfrm>
            <a:off x="6140648" y="4041577"/>
            <a:ext cx="7835503" cy="204549"/>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Pants (171 purchases)</a:t>
            </a:r>
            <a:endParaRPr lang="en-US" sz="1000" dirty="0"/>
          </a:p>
        </p:txBody>
      </p:sp>
      <p:sp>
        <p:nvSpPr>
          <p:cNvPr id="20" name="Text 15"/>
          <p:cNvSpPr/>
          <p:nvPr/>
        </p:nvSpPr>
        <p:spPr>
          <a:xfrm>
            <a:off x="6140648" y="4290774"/>
            <a:ext cx="7835503" cy="204549"/>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Shirt (169 purchases)</a:t>
            </a:r>
            <a:endParaRPr lang="en-US" sz="1000" dirty="0"/>
          </a:p>
        </p:txBody>
      </p:sp>
      <p:sp>
        <p:nvSpPr>
          <p:cNvPr id="21" name="Shape 16"/>
          <p:cNvSpPr/>
          <p:nvPr/>
        </p:nvSpPr>
        <p:spPr>
          <a:xfrm>
            <a:off x="5997654" y="4957763"/>
            <a:ext cx="8121491" cy="1429941"/>
          </a:xfrm>
          <a:prstGeom prst="roundRect">
            <a:avLst>
              <a:gd name="adj" fmla="val 5116"/>
            </a:avLst>
          </a:prstGeom>
          <a:solidFill>
            <a:srgbClr val="123332"/>
          </a:solidFill>
          <a:ln/>
        </p:spPr>
      </p:sp>
      <p:sp>
        <p:nvSpPr>
          <p:cNvPr id="22" name="Shape 17"/>
          <p:cNvSpPr/>
          <p:nvPr/>
        </p:nvSpPr>
        <p:spPr>
          <a:xfrm>
            <a:off x="5997654" y="4942523"/>
            <a:ext cx="8121491" cy="60960"/>
          </a:xfrm>
          <a:prstGeom prst="roundRect">
            <a:avLst>
              <a:gd name="adj" fmla="val 31451"/>
            </a:avLst>
          </a:prstGeom>
          <a:solidFill>
            <a:srgbClr val="EF9C82"/>
          </a:solidFill>
          <a:ln/>
        </p:spPr>
      </p:sp>
      <p:sp>
        <p:nvSpPr>
          <p:cNvPr id="23" name="Shape 18"/>
          <p:cNvSpPr/>
          <p:nvPr/>
        </p:nvSpPr>
        <p:spPr>
          <a:xfrm>
            <a:off x="9866709" y="4766072"/>
            <a:ext cx="383381" cy="383381"/>
          </a:xfrm>
          <a:prstGeom prst="roundRect">
            <a:avLst>
              <a:gd name="adj" fmla="val 238509"/>
            </a:avLst>
          </a:prstGeom>
          <a:solidFill>
            <a:srgbClr val="EF9C82"/>
          </a:solidFill>
          <a:ln/>
        </p:spPr>
      </p:sp>
      <p:pic>
        <p:nvPicPr>
          <p:cNvPr id="24"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81724" y="4881086"/>
            <a:ext cx="153353" cy="153352"/>
          </a:xfrm>
          <a:prstGeom prst="rect">
            <a:avLst/>
          </a:prstGeom>
        </p:spPr>
      </p:pic>
      <p:sp>
        <p:nvSpPr>
          <p:cNvPr id="25" name="Text 19"/>
          <p:cNvSpPr/>
          <p:nvPr/>
        </p:nvSpPr>
        <p:spPr>
          <a:xfrm>
            <a:off x="6140648" y="5277207"/>
            <a:ext cx="1503640" cy="187881"/>
          </a:xfrm>
          <a:prstGeom prst="rect">
            <a:avLst/>
          </a:prstGeom>
          <a:noFill/>
          <a:ln/>
        </p:spPr>
        <p:txBody>
          <a:bodyPr wrap="none" lIns="0" tIns="0" rIns="0" bIns="0" rtlCol="0" anchor="t"/>
          <a:lstStyle/>
          <a:p>
            <a:pPr algn="l" indent="0" marL="0">
              <a:lnSpc>
                <a:spcPts val="1450"/>
              </a:lnSpc>
              <a:buNone/>
            </a:pPr>
            <a:r>
              <a:rPr lang="en-US" sz="1150" dirty="0">
                <a:solidFill>
                  <a:srgbClr val="F9EEE7"/>
                </a:solidFill>
                <a:latin typeface="Quattrocento" pitchFamily="34" charset="0"/>
                <a:ea typeface="Quattrocento" pitchFamily="34" charset="-122"/>
                <a:cs typeface="Quattrocento" pitchFamily="34" charset="-120"/>
              </a:rPr>
              <a:t>Footwear</a:t>
            </a:r>
            <a:endParaRPr lang="en-US" sz="1150" dirty="0"/>
          </a:p>
        </p:txBody>
      </p:sp>
      <p:sp>
        <p:nvSpPr>
          <p:cNvPr id="26" name="Text 20"/>
          <p:cNvSpPr/>
          <p:nvPr/>
        </p:nvSpPr>
        <p:spPr>
          <a:xfrm>
            <a:off x="6140648" y="5541764"/>
            <a:ext cx="7835503" cy="204549"/>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Sandals (160 purchases)</a:t>
            </a:r>
            <a:endParaRPr lang="en-US" sz="1000" dirty="0"/>
          </a:p>
        </p:txBody>
      </p:sp>
      <p:sp>
        <p:nvSpPr>
          <p:cNvPr id="27" name="Text 21"/>
          <p:cNvSpPr/>
          <p:nvPr/>
        </p:nvSpPr>
        <p:spPr>
          <a:xfrm>
            <a:off x="6140648" y="5790962"/>
            <a:ext cx="7835503" cy="204549"/>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Shoes (150 purchases)</a:t>
            </a:r>
            <a:endParaRPr lang="en-US" sz="1000" dirty="0"/>
          </a:p>
        </p:txBody>
      </p:sp>
      <p:sp>
        <p:nvSpPr>
          <p:cNvPr id="28" name="Text 22"/>
          <p:cNvSpPr/>
          <p:nvPr/>
        </p:nvSpPr>
        <p:spPr>
          <a:xfrm>
            <a:off x="6140648" y="6040160"/>
            <a:ext cx="7835503" cy="204549"/>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Sneakers (145 purchases)</a:t>
            </a:r>
            <a:endParaRPr lang="en-US" sz="1000" dirty="0"/>
          </a:p>
        </p:txBody>
      </p:sp>
      <p:sp>
        <p:nvSpPr>
          <p:cNvPr id="29" name="Shape 23"/>
          <p:cNvSpPr/>
          <p:nvPr/>
        </p:nvSpPr>
        <p:spPr>
          <a:xfrm>
            <a:off x="5997654" y="6707148"/>
            <a:ext cx="8121491" cy="1180743"/>
          </a:xfrm>
          <a:prstGeom prst="roundRect">
            <a:avLst>
              <a:gd name="adj" fmla="val 6195"/>
            </a:avLst>
          </a:prstGeom>
          <a:solidFill>
            <a:srgbClr val="123332"/>
          </a:solidFill>
          <a:ln/>
        </p:spPr>
      </p:sp>
      <p:sp>
        <p:nvSpPr>
          <p:cNvPr id="30" name="Shape 24"/>
          <p:cNvSpPr/>
          <p:nvPr/>
        </p:nvSpPr>
        <p:spPr>
          <a:xfrm>
            <a:off x="5997654" y="6691908"/>
            <a:ext cx="8121491" cy="60960"/>
          </a:xfrm>
          <a:prstGeom prst="roundRect">
            <a:avLst>
              <a:gd name="adj" fmla="val 31451"/>
            </a:avLst>
          </a:prstGeom>
          <a:solidFill>
            <a:srgbClr val="EF9C82"/>
          </a:solidFill>
          <a:ln/>
        </p:spPr>
      </p:sp>
      <p:sp>
        <p:nvSpPr>
          <p:cNvPr id="31" name="Shape 25"/>
          <p:cNvSpPr/>
          <p:nvPr/>
        </p:nvSpPr>
        <p:spPr>
          <a:xfrm>
            <a:off x="9866709" y="6515457"/>
            <a:ext cx="383381" cy="383381"/>
          </a:xfrm>
          <a:prstGeom prst="roundRect">
            <a:avLst>
              <a:gd name="adj" fmla="val 238509"/>
            </a:avLst>
          </a:prstGeom>
          <a:solidFill>
            <a:srgbClr val="EF9C82"/>
          </a:solidFill>
          <a:ln/>
        </p:spPr>
      </p:sp>
      <p:pic>
        <p:nvPicPr>
          <p:cNvPr id="32"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81724" y="6630472"/>
            <a:ext cx="153353" cy="153352"/>
          </a:xfrm>
          <a:prstGeom prst="rect">
            <a:avLst/>
          </a:prstGeom>
        </p:spPr>
      </p:pic>
      <p:sp>
        <p:nvSpPr>
          <p:cNvPr id="33" name="Text 26"/>
          <p:cNvSpPr/>
          <p:nvPr/>
        </p:nvSpPr>
        <p:spPr>
          <a:xfrm>
            <a:off x="6140648" y="7026593"/>
            <a:ext cx="1503640" cy="187881"/>
          </a:xfrm>
          <a:prstGeom prst="rect">
            <a:avLst/>
          </a:prstGeom>
          <a:noFill/>
          <a:ln/>
        </p:spPr>
        <p:txBody>
          <a:bodyPr wrap="none" lIns="0" tIns="0" rIns="0" bIns="0" rtlCol="0" anchor="t"/>
          <a:lstStyle/>
          <a:p>
            <a:pPr algn="l" indent="0" marL="0">
              <a:lnSpc>
                <a:spcPts val="1450"/>
              </a:lnSpc>
              <a:buNone/>
            </a:pPr>
            <a:r>
              <a:rPr lang="en-US" sz="1150" dirty="0">
                <a:solidFill>
                  <a:srgbClr val="F9EEE7"/>
                </a:solidFill>
                <a:latin typeface="Quattrocento" pitchFamily="34" charset="0"/>
                <a:ea typeface="Quattrocento" pitchFamily="34" charset="-122"/>
                <a:cs typeface="Quattrocento" pitchFamily="34" charset="-120"/>
              </a:rPr>
              <a:t>Outerwear</a:t>
            </a:r>
            <a:endParaRPr lang="en-US" sz="1150" dirty="0"/>
          </a:p>
        </p:txBody>
      </p:sp>
      <p:sp>
        <p:nvSpPr>
          <p:cNvPr id="34" name="Text 27"/>
          <p:cNvSpPr/>
          <p:nvPr/>
        </p:nvSpPr>
        <p:spPr>
          <a:xfrm>
            <a:off x="6140648" y="7291149"/>
            <a:ext cx="7835503" cy="204549"/>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Jacket (163 purchases)</a:t>
            </a:r>
            <a:endParaRPr lang="en-US" sz="1000" dirty="0"/>
          </a:p>
        </p:txBody>
      </p:sp>
      <p:sp>
        <p:nvSpPr>
          <p:cNvPr id="35" name="Text 28"/>
          <p:cNvSpPr/>
          <p:nvPr/>
        </p:nvSpPr>
        <p:spPr>
          <a:xfrm>
            <a:off x="6140648" y="7540347"/>
            <a:ext cx="7835503" cy="204549"/>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Coat (161 purchases)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79847" y="467320"/>
            <a:ext cx="6737271" cy="499824"/>
          </a:xfrm>
          <a:prstGeom prst="rect">
            <a:avLst/>
          </a:prstGeom>
          <a:noFill/>
          <a:ln/>
        </p:spPr>
        <p:txBody>
          <a:bodyPr wrap="none" lIns="0" tIns="0" rIns="0" bIns="0" rtlCol="0" anchor="t"/>
          <a:lstStyle/>
          <a:p>
            <a:pPr algn="l" indent="0" marL="0">
              <a:lnSpc>
                <a:spcPts val="3900"/>
              </a:lnSpc>
              <a:buNone/>
            </a:pPr>
            <a:r>
              <a:rPr lang="en-US" sz="3100" dirty="0">
                <a:solidFill>
                  <a:srgbClr val="FFD9BE"/>
                </a:solidFill>
                <a:latin typeface="Quattrocento" pitchFamily="34" charset="0"/>
                <a:ea typeface="Quattrocento" pitchFamily="34" charset="-122"/>
                <a:cs typeface="Quattrocento" pitchFamily="34" charset="-120"/>
              </a:rPr>
              <a:t>Strategic Business Recommendations</a:t>
            </a:r>
            <a:endParaRPr lang="en-US" sz="3100" dirty="0"/>
          </a:p>
        </p:txBody>
      </p:sp>
      <p:sp>
        <p:nvSpPr>
          <p:cNvPr id="3" name="Text 1"/>
          <p:cNvSpPr/>
          <p:nvPr/>
        </p:nvSpPr>
        <p:spPr>
          <a:xfrm>
            <a:off x="679847" y="1307068"/>
            <a:ext cx="13270706" cy="271939"/>
          </a:xfrm>
          <a:prstGeom prst="rect">
            <a:avLst/>
          </a:prstGeom>
          <a:noFill/>
          <a:ln/>
        </p:spPr>
        <p:txBody>
          <a:bodyPr wrap="none" lIns="0" tIns="0" rIns="0" bIns="0" rtlCol="0" anchor="t"/>
          <a:lstStyle/>
          <a:p>
            <a:pPr algn="l" indent="0" marL="0">
              <a:lnSpc>
                <a:spcPts val="2100"/>
              </a:lnSpc>
              <a:buNone/>
            </a:pPr>
            <a:r>
              <a:rPr lang="en-US" sz="1300" dirty="0">
                <a:solidFill>
                  <a:srgbClr val="F9EEE7"/>
                </a:solidFill>
                <a:latin typeface="Quattrocento" pitchFamily="34" charset="0"/>
                <a:ea typeface="Quattrocento" pitchFamily="34" charset="-122"/>
                <a:cs typeface="Quattrocento" pitchFamily="34" charset="-120"/>
              </a:rPr>
              <a:t>Based on the analysis, we propose five key recommendations to drive growth and improve customer value.</a:t>
            </a:r>
            <a:endParaRPr lang="en-US" sz="1300" dirty="0"/>
          </a:p>
        </p:txBody>
      </p:sp>
      <p:sp>
        <p:nvSpPr>
          <p:cNvPr id="4" name="Shape 2"/>
          <p:cNvSpPr/>
          <p:nvPr/>
        </p:nvSpPr>
        <p:spPr>
          <a:xfrm>
            <a:off x="679847" y="1770102"/>
            <a:ext cx="679847" cy="1019770"/>
          </a:xfrm>
          <a:prstGeom prst="roundRect">
            <a:avLst>
              <a:gd name="adj" fmla="val 360000"/>
            </a:avLst>
          </a:prstGeom>
          <a:solidFill>
            <a:srgbClr val="315251"/>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92254" y="2152412"/>
            <a:ext cx="254913" cy="254913"/>
          </a:xfrm>
          <a:prstGeom prst="rect">
            <a:avLst/>
          </a:prstGeom>
        </p:spPr>
      </p:pic>
      <p:sp>
        <p:nvSpPr>
          <p:cNvPr id="6" name="Text 3"/>
          <p:cNvSpPr/>
          <p:nvPr/>
        </p:nvSpPr>
        <p:spPr>
          <a:xfrm>
            <a:off x="1529596" y="1940004"/>
            <a:ext cx="1999536" cy="249793"/>
          </a:xfrm>
          <a:prstGeom prst="rect">
            <a:avLst/>
          </a:prstGeom>
          <a:noFill/>
          <a:ln/>
        </p:spPr>
        <p:txBody>
          <a:bodyPr wrap="none" lIns="0" tIns="0" rIns="0" bIns="0" rtlCol="0" anchor="t"/>
          <a:lstStyle/>
          <a:p>
            <a:pPr algn="l" indent="0" marL="0">
              <a:lnSpc>
                <a:spcPts val="1950"/>
              </a:lnSpc>
              <a:buNone/>
            </a:pPr>
            <a:r>
              <a:rPr lang="en-US" sz="1550" dirty="0">
                <a:solidFill>
                  <a:srgbClr val="F9EEE7"/>
                </a:solidFill>
                <a:latin typeface="Quattrocento" pitchFamily="34" charset="0"/>
                <a:ea typeface="Quattrocento" pitchFamily="34" charset="-122"/>
                <a:cs typeface="Quattrocento" pitchFamily="34" charset="-120"/>
              </a:rPr>
              <a:t>Boost Subscriptions</a:t>
            </a:r>
            <a:endParaRPr lang="en-US" sz="1550" dirty="0"/>
          </a:p>
        </p:txBody>
      </p:sp>
      <p:sp>
        <p:nvSpPr>
          <p:cNvPr id="7" name="Text 4"/>
          <p:cNvSpPr/>
          <p:nvPr/>
        </p:nvSpPr>
        <p:spPr>
          <a:xfrm>
            <a:off x="1529596" y="2291715"/>
            <a:ext cx="12420957" cy="271939"/>
          </a:xfrm>
          <a:prstGeom prst="rect">
            <a:avLst/>
          </a:prstGeom>
          <a:noFill/>
          <a:ln/>
        </p:spPr>
        <p:txBody>
          <a:bodyPr wrap="none" lIns="0" tIns="0" rIns="0" bIns="0" rtlCol="0" anchor="t"/>
          <a:lstStyle/>
          <a:p>
            <a:pPr algn="l" indent="0" marL="0">
              <a:lnSpc>
                <a:spcPts val="2100"/>
              </a:lnSpc>
              <a:buNone/>
            </a:pPr>
            <a:r>
              <a:rPr lang="en-US" sz="1300" dirty="0">
                <a:solidFill>
                  <a:srgbClr val="F9EEE7"/>
                </a:solidFill>
                <a:latin typeface="Quattrocento" pitchFamily="34" charset="0"/>
                <a:ea typeface="Quattrocento" pitchFamily="34" charset="-122"/>
                <a:cs typeface="Quattrocento" pitchFamily="34" charset="-120"/>
              </a:rPr>
              <a:t>Promote exclusive benefits and rewards to convert repeat buyers into subscribers, leveraging their high propensity to join.</a:t>
            </a:r>
            <a:endParaRPr lang="en-US" sz="1300" dirty="0"/>
          </a:p>
        </p:txBody>
      </p:sp>
      <p:sp>
        <p:nvSpPr>
          <p:cNvPr id="8" name="Shape 5"/>
          <p:cNvSpPr/>
          <p:nvPr/>
        </p:nvSpPr>
        <p:spPr>
          <a:xfrm>
            <a:off x="679847" y="2959775"/>
            <a:ext cx="679847" cy="1019770"/>
          </a:xfrm>
          <a:prstGeom prst="roundRect">
            <a:avLst>
              <a:gd name="adj" fmla="val 360000"/>
            </a:avLst>
          </a:prstGeom>
          <a:solidFill>
            <a:srgbClr val="315251"/>
          </a:solidFill>
          <a:ln/>
        </p:spPr>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2254" y="3342084"/>
            <a:ext cx="254913" cy="254913"/>
          </a:xfrm>
          <a:prstGeom prst="rect">
            <a:avLst/>
          </a:prstGeom>
        </p:spPr>
      </p:pic>
      <p:sp>
        <p:nvSpPr>
          <p:cNvPr id="10" name="Text 6"/>
          <p:cNvSpPr/>
          <p:nvPr/>
        </p:nvSpPr>
        <p:spPr>
          <a:xfrm>
            <a:off x="1529596" y="3129677"/>
            <a:ext cx="2477691" cy="249793"/>
          </a:xfrm>
          <a:prstGeom prst="rect">
            <a:avLst/>
          </a:prstGeom>
          <a:noFill/>
          <a:ln/>
        </p:spPr>
        <p:txBody>
          <a:bodyPr wrap="none" lIns="0" tIns="0" rIns="0" bIns="0" rtlCol="0" anchor="t"/>
          <a:lstStyle/>
          <a:p>
            <a:pPr algn="l" indent="0" marL="0">
              <a:lnSpc>
                <a:spcPts val="1950"/>
              </a:lnSpc>
              <a:buNone/>
            </a:pPr>
            <a:r>
              <a:rPr lang="en-US" sz="1550" dirty="0">
                <a:solidFill>
                  <a:srgbClr val="F9EEE7"/>
                </a:solidFill>
                <a:latin typeface="Quattrocento" pitchFamily="34" charset="0"/>
                <a:ea typeface="Quattrocento" pitchFamily="34" charset="-122"/>
                <a:cs typeface="Quattrocento" pitchFamily="34" charset="-120"/>
              </a:rPr>
              <a:t>Customer Loyalty Programs</a:t>
            </a:r>
            <a:endParaRPr lang="en-US" sz="1550" dirty="0"/>
          </a:p>
        </p:txBody>
      </p:sp>
      <p:sp>
        <p:nvSpPr>
          <p:cNvPr id="11" name="Text 7"/>
          <p:cNvSpPr/>
          <p:nvPr/>
        </p:nvSpPr>
        <p:spPr>
          <a:xfrm>
            <a:off x="1529596" y="3481388"/>
            <a:ext cx="12420957" cy="271939"/>
          </a:xfrm>
          <a:prstGeom prst="rect">
            <a:avLst/>
          </a:prstGeom>
          <a:noFill/>
          <a:ln/>
        </p:spPr>
        <p:txBody>
          <a:bodyPr wrap="none" lIns="0" tIns="0" rIns="0" bIns="0" rtlCol="0" anchor="t"/>
          <a:lstStyle/>
          <a:p>
            <a:pPr algn="l" indent="0" marL="0">
              <a:lnSpc>
                <a:spcPts val="2100"/>
              </a:lnSpc>
              <a:buNone/>
            </a:pPr>
            <a:r>
              <a:rPr lang="en-US" sz="1300" dirty="0">
                <a:solidFill>
                  <a:srgbClr val="F9EEE7"/>
                </a:solidFill>
                <a:latin typeface="Quattrocento" pitchFamily="34" charset="0"/>
                <a:ea typeface="Quattrocento" pitchFamily="34" charset="-122"/>
                <a:cs typeface="Quattrocento" pitchFamily="34" charset="-120"/>
              </a:rPr>
              <a:t>Implement a tiered loyalty program to formally reward repeat buyers and encourage movement into the "Loyal" customer segment.</a:t>
            </a:r>
            <a:endParaRPr lang="en-US" sz="1300" dirty="0"/>
          </a:p>
        </p:txBody>
      </p:sp>
      <p:sp>
        <p:nvSpPr>
          <p:cNvPr id="12" name="Shape 8"/>
          <p:cNvSpPr/>
          <p:nvPr/>
        </p:nvSpPr>
        <p:spPr>
          <a:xfrm>
            <a:off x="679847" y="4149447"/>
            <a:ext cx="679847" cy="1019770"/>
          </a:xfrm>
          <a:prstGeom prst="roundRect">
            <a:avLst>
              <a:gd name="adj" fmla="val 360000"/>
            </a:avLst>
          </a:prstGeom>
          <a:solidFill>
            <a:srgbClr val="315251"/>
          </a:solidFill>
          <a:ln/>
        </p:spPr>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2254" y="4531757"/>
            <a:ext cx="254913" cy="254913"/>
          </a:xfrm>
          <a:prstGeom prst="rect">
            <a:avLst/>
          </a:prstGeom>
        </p:spPr>
      </p:pic>
      <p:sp>
        <p:nvSpPr>
          <p:cNvPr id="14" name="Text 9"/>
          <p:cNvSpPr/>
          <p:nvPr/>
        </p:nvSpPr>
        <p:spPr>
          <a:xfrm>
            <a:off x="1529596" y="4319349"/>
            <a:ext cx="2094667" cy="249793"/>
          </a:xfrm>
          <a:prstGeom prst="rect">
            <a:avLst/>
          </a:prstGeom>
          <a:noFill/>
          <a:ln/>
        </p:spPr>
        <p:txBody>
          <a:bodyPr wrap="none" lIns="0" tIns="0" rIns="0" bIns="0" rtlCol="0" anchor="t"/>
          <a:lstStyle/>
          <a:p>
            <a:pPr algn="l" indent="0" marL="0">
              <a:lnSpc>
                <a:spcPts val="1950"/>
              </a:lnSpc>
              <a:buNone/>
            </a:pPr>
            <a:r>
              <a:rPr lang="en-US" sz="1550" dirty="0">
                <a:solidFill>
                  <a:srgbClr val="F9EEE7"/>
                </a:solidFill>
                <a:latin typeface="Quattrocento" pitchFamily="34" charset="0"/>
                <a:ea typeface="Quattrocento" pitchFamily="34" charset="-122"/>
                <a:cs typeface="Quattrocento" pitchFamily="34" charset="-120"/>
              </a:rPr>
              <a:t>Review Discount Policy</a:t>
            </a:r>
            <a:endParaRPr lang="en-US" sz="1550" dirty="0"/>
          </a:p>
        </p:txBody>
      </p:sp>
      <p:sp>
        <p:nvSpPr>
          <p:cNvPr id="15" name="Text 10"/>
          <p:cNvSpPr/>
          <p:nvPr/>
        </p:nvSpPr>
        <p:spPr>
          <a:xfrm>
            <a:off x="1529596" y="4671060"/>
            <a:ext cx="12420957" cy="271939"/>
          </a:xfrm>
          <a:prstGeom prst="rect">
            <a:avLst/>
          </a:prstGeom>
          <a:noFill/>
          <a:ln/>
        </p:spPr>
        <p:txBody>
          <a:bodyPr wrap="none" lIns="0" tIns="0" rIns="0" bIns="0" rtlCol="0" anchor="t"/>
          <a:lstStyle/>
          <a:p>
            <a:pPr algn="l" indent="0" marL="0">
              <a:lnSpc>
                <a:spcPts val="2100"/>
              </a:lnSpc>
              <a:buNone/>
            </a:pPr>
            <a:r>
              <a:rPr lang="en-US" sz="1300" dirty="0">
                <a:solidFill>
                  <a:srgbClr val="F9EEE7"/>
                </a:solidFill>
                <a:latin typeface="Quattrocento" pitchFamily="34" charset="0"/>
                <a:ea typeface="Quattrocento" pitchFamily="34" charset="-122"/>
                <a:cs typeface="Quattrocento" pitchFamily="34" charset="-120"/>
              </a:rPr>
              <a:t>Evaluate the impact of discounts on margin for highly dependent products (e.g., Hat, Coat) to balance sales boosts with profitability.</a:t>
            </a:r>
            <a:endParaRPr lang="en-US" sz="1300" dirty="0"/>
          </a:p>
        </p:txBody>
      </p:sp>
      <p:sp>
        <p:nvSpPr>
          <p:cNvPr id="16" name="Shape 11"/>
          <p:cNvSpPr/>
          <p:nvPr/>
        </p:nvSpPr>
        <p:spPr>
          <a:xfrm>
            <a:off x="679847" y="5339120"/>
            <a:ext cx="679847" cy="1019770"/>
          </a:xfrm>
          <a:prstGeom prst="roundRect">
            <a:avLst>
              <a:gd name="adj" fmla="val 360000"/>
            </a:avLst>
          </a:prstGeom>
          <a:solidFill>
            <a:srgbClr val="315251"/>
          </a:solidFill>
          <a:ln/>
        </p:spPr>
      </p:sp>
      <p:pic>
        <p:nvPicPr>
          <p:cNvPr id="1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2254" y="5721429"/>
            <a:ext cx="254913" cy="254913"/>
          </a:xfrm>
          <a:prstGeom prst="rect">
            <a:avLst/>
          </a:prstGeom>
        </p:spPr>
      </p:pic>
      <p:sp>
        <p:nvSpPr>
          <p:cNvPr id="18" name="Text 12"/>
          <p:cNvSpPr/>
          <p:nvPr/>
        </p:nvSpPr>
        <p:spPr>
          <a:xfrm>
            <a:off x="1529596" y="5509022"/>
            <a:ext cx="1999536" cy="249793"/>
          </a:xfrm>
          <a:prstGeom prst="rect">
            <a:avLst/>
          </a:prstGeom>
          <a:noFill/>
          <a:ln/>
        </p:spPr>
        <p:txBody>
          <a:bodyPr wrap="none" lIns="0" tIns="0" rIns="0" bIns="0" rtlCol="0" anchor="t"/>
          <a:lstStyle/>
          <a:p>
            <a:pPr algn="l" indent="0" marL="0">
              <a:lnSpc>
                <a:spcPts val="1950"/>
              </a:lnSpc>
              <a:buNone/>
            </a:pPr>
            <a:r>
              <a:rPr lang="en-US" sz="1550" dirty="0">
                <a:solidFill>
                  <a:srgbClr val="F9EEE7"/>
                </a:solidFill>
                <a:latin typeface="Quattrocento" pitchFamily="34" charset="0"/>
                <a:ea typeface="Quattrocento" pitchFamily="34" charset="-122"/>
                <a:cs typeface="Quattrocento" pitchFamily="34" charset="-120"/>
              </a:rPr>
              <a:t>Product Positioning</a:t>
            </a:r>
            <a:endParaRPr lang="en-US" sz="1550" dirty="0"/>
          </a:p>
        </p:txBody>
      </p:sp>
      <p:sp>
        <p:nvSpPr>
          <p:cNvPr id="19" name="Text 13"/>
          <p:cNvSpPr/>
          <p:nvPr/>
        </p:nvSpPr>
        <p:spPr>
          <a:xfrm>
            <a:off x="1529596" y="5860733"/>
            <a:ext cx="12420957" cy="271939"/>
          </a:xfrm>
          <a:prstGeom prst="rect">
            <a:avLst/>
          </a:prstGeom>
          <a:noFill/>
          <a:ln/>
        </p:spPr>
        <p:txBody>
          <a:bodyPr wrap="none" lIns="0" tIns="0" rIns="0" bIns="0" rtlCol="0" anchor="t"/>
          <a:lstStyle/>
          <a:p>
            <a:pPr algn="l" indent="0" marL="0">
              <a:lnSpc>
                <a:spcPts val="2100"/>
              </a:lnSpc>
              <a:buNone/>
            </a:pPr>
            <a:r>
              <a:rPr lang="en-US" sz="1300" dirty="0">
                <a:solidFill>
                  <a:srgbClr val="F9EEE7"/>
                </a:solidFill>
                <a:latin typeface="Quattrocento" pitchFamily="34" charset="0"/>
                <a:ea typeface="Quattrocento" pitchFamily="34" charset="-122"/>
                <a:cs typeface="Quattrocento" pitchFamily="34" charset="-120"/>
              </a:rPr>
              <a:t>Highlight top-rated products (Gloves, Sandals) and best-sellers (Blouse, Pants) prominently in marketing campaigns and store displays.</a:t>
            </a:r>
            <a:endParaRPr lang="en-US" sz="1300" dirty="0"/>
          </a:p>
        </p:txBody>
      </p:sp>
      <p:sp>
        <p:nvSpPr>
          <p:cNvPr id="20" name="Shape 14"/>
          <p:cNvSpPr/>
          <p:nvPr/>
        </p:nvSpPr>
        <p:spPr>
          <a:xfrm>
            <a:off x="679847" y="6528792"/>
            <a:ext cx="679847" cy="1235393"/>
          </a:xfrm>
          <a:prstGeom prst="roundRect">
            <a:avLst>
              <a:gd name="adj" fmla="val 360000"/>
            </a:avLst>
          </a:prstGeom>
          <a:solidFill>
            <a:srgbClr val="315251"/>
          </a:solidFill>
          <a:ln/>
        </p:spPr>
      </p:sp>
      <p:pic>
        <p:nvPicPr>
          <p:cNvPr id="2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92254" y="7018973"/>
            <a:ext cx="254913" cy="254913"/>
          </a:xfrm>
          <a:prstGeom prst="rect">
            <a:avLst/>
          </a:prstGeom>
        </p:spPr>
      </p:pic>
      <p:sp>
        <p:nvSpPr>
          <p:cNvPr id="22" name="Text 15"/>
          <p:cNvSpPr/>
          <p:nvPr/>
        </p:nvSpPr>
        <p:spPr>
          <a:xfrm>
            <a:off x="1529596" y="6698694"/>
            <a:ext cx="1999536" cy="249793"/>
          </a:xfrm>
          <a:prstGeom prst="rect">
            <a:avLst/>
          </a:prstGeom>
          <a:noFill/>
          <a:ln/>
        </p:spPr>
        <p:txBody>
          <a:bodyPr wrap="none" lIns="0" tIns="0" rIns="0" bIns="0" rtlCol="0" anchor="t"/>
          <a:lstStyle/>
          <a:p>
            <a:pPr algn="l" indent="0" marL="0">
              <a:lnSpc>
                <a:spcPts val="1950"/>
              </a:lnSpc>
              <a:buNone/>
            </a:pPr>
            <a:r>
              <a:rPr lang="en-US" sz="1550" dirty="0">
                <a:solidFill>
                  <a:srgbClr val="F9EEE7"/>
                </a:solidFill>
                <a:latin typeface="Quattrocento" pitchFamily="34" charset="0"/>
                <a:ea typeface="Quattrocento" pitchFamily="34" charset="-122"/>
                <a:cs typeface="Quattrocento" pitchFamily="34" charset="-120"/>
              </a:rPr>
              <a:t>Targeted Marketing</a:t>
            </a:r>
            <a:endParaRPr lang="en-US" sz="1550" dirty="0"/>
          </a:p>
        </p:txBody>
      </p:sp>
      <p:sp>
        <p:nvSpPr>
          <p:cNvPr id="23" name="Text 16"/>
          <p:cNvSpPr/>
          <p:nvPr/>
        </p:nvSpPr>
        <p:spPr>
          <a:xfrm>
            <a:off x="1529596" y="7050405"/>
            <a:ext cx="12420957" cy="543878"/>
          </a:xfrm>
          <a:prstGeom prst="rect">
            <a:avLst/>
          </a:prstGeom>
          <a:noFill/>
          <a:ln/>
        </p:spPr>
        <p:txBody>
          <a:bodyPr wrap="square" lIns="0" tIns="0" rIns="0" bIns="0" rtlCol="0" anchor="t"/>
          <a:lstStyle/>
          <a:p>
            <a:pPr algn="l" indent="0" marL="0">
              <a:lnSpc>
                <a:spcPts val="2100"/>
              </a:lnSpc>
              <a:buNone/>
            </a:pPr>
            <a:r>
              <a:rPr lang="en-US" sz="1300" dirty="0">
                <a:solidFill>
                  <a:srgbClr val="F9EEE7"/>
                </a:solidFill>
                <a:latin typeface="Quattrocento" pitchFamily="34" charset="0"/>
                <a:ea typeface="Quattrocento" pitchFamily="34" charset="-122"/>
                <a:cs typeface="Quattrocento" pitchFamily="34" charset="-120"/>
              </a:rPr>
              <a:t>Focus advertising efforts on the high-revenue Young Adult and Middle-aged groups, and offer incentives to Express shipping users who show higher average spend.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2025-11-02T05:28:57Z</dcterms:created>
  <dcterms:modified xsi:type="dcterms:W3CDTF">2025-11-02T05:28:57Z</dcterms:modified>
</cp:coreProperties>
</file>